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35c0964e34580" /><Relationship Type="http://schemas.openxmlformats.org/officeDocument/2006/relationships/extended-properties" Target="/docProps/app.xml" Id="R2f2e9f951e7240fe" /><Relationship Type="http://schemas.openxmlformats.org/officeDocument/2006/relationships/officeDocument" Target="/ppt/presentation.xml" Id="R060df67388a04b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29effceb94ec1"/>
  </p:sldMasterIdLst>
  <p:notesMasterIdLst>
    <p:notesMasterId xmlns:r="http://schemas.openxmlformats.org/officeDocument/2006/relationships" r:id="R37fa7f42564343d1"/>
  </p:notesMasterIdLst>
  <p:sldIdLst>
    <p:sldId xmlns:r="http://schemas.openxmlformats.org/officeDocument/2006/relationships" id="256" r:id="Rc024ba863d3d444b"/>
    <p:sldId xmlns:r="http://schemas.openxmlformats.org/officeDocument/2006/relationships" id="257" r:id="R61ec413f20f54978"/>
    <p:sldId xmlns:r="http://schemas.openxmlformats.org/officeDocument/2006/relationships" id="258" r:id="R48cbe985fd244d1e"/>
    <p:sldId xmlns:r="http://schemas.openxmlformats.org/officeDocument/2006/relationships" id="259" r:id="Rf7e6ed3a71d54f45"/>
    <p:sldId xmlns:r="http://schemas.openxmlformats.org/officeDocument/2006/relationships" id="260" r:id="Reb101beff2364be9"/>
    <p:sldId xmlns:r="http://schemas.openxmlformats.org/officeDocument/2006/relationships" id="261" r:id="Rd14bde4b8f3c43b4"/>
    <p:sldId xmlns:r="http://schemas.openxmlformats.org/officeDocument/2006/relationships" id="262" r:id="Rb653615d92534e9d"/>
    <p:sldId xmlns:r="http://schemas.openxmlformats.org/officeDocument/2006/relationships" id="263" r:id="R3fe9d09d15ce4294"/>
    <p:sldId xmlns:r="http://schemas.openxmlformats.org/officeDocument/2006/relationships" id="264" r:id="Rd3f58b7766d94653"/>
    <p:sldId xmlns:r="http://schemas.openxmlformats.org/officeDocument/2006/relationships" id="265" r:id="Re3558644ee19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b1bf9e25d47f9" /><Relationship Type="http://schemas.openxmlformats.org/officeDocument/2006/relationships/slideMaster" Target="/ppt/slideMasters/slideMaster1.xml" Id="R00d29effceb94ec1" /><Relationship Type="http://schemas.openxmlformats.org/officeDocument/2006/relationships/notesMaster" Target="/ppt/notesMasters/notesMaster1.xml" Id="R37fa7f42564343d1" /><Relationship Type="http://schemas.openxmlformats.org/officeDocument/2006/relationships/presProps" Target="/ppt/presProps.xml" Id="R37ededb816794d1a" /><Relationship Type="http://schemas.openxmlformats.org/officeDocument/2006/relationships/tableStyles" Target="/ppt/tableStyles.xml" Id="R41b8dba79faa4f93" /><Relationship Type="http://schemas.openxmlformats.org/officeDocument/2006/relationships/slide" Target="/ppt/slides/slide1.xml" Id="Rc024ba863d3d444b" /><Relationship Type="http://schemas.openxmlformats.org/officeDocument/2006/relationships/slide" Target="/ppt/slides/slide2.xml" Id="R61ec413f20f54978" /><Relationship Type="http://schemas.openxmlformats.org/officeDocument/2006/relationships/slide" Target="/ppt/slides/slide3.xml" Id="R48cbe985fd244d1e" /><Relationship Type="http://schemas.openxmlformats.org/officeDocument/2006/relationships/slide" Target="/ppt/slides/slide4.xml" Id="Rf7e6ed3a71d54f45" /><Relationship Type="http://schemas.openxmlformats.org/officeDocument/2006/relationships/slide" Target="/ppt/slides/slide5.xml" Id="Reb101beff2364be9" /><Relationship Type="http://schemas.openxmlformats.org/officeDocument/2006/relationships/slide" Target="/ppt/slides/slide6.xml" Id="Rd14bde4b8f3c43b4" /><Relationship Type="http://schemas.openxmlformats.org/officeDocument/2006/relationships/slide" Target="/ppt/slides/slide7.xml" Id="Rb653615d92534e9d" /><Relationship Type="http://schemas.openxmlformats.org/officeDocument/2006/relationships/slide" Target="/ppt/slides/slide8.xml" Id="R3fe9d09d15ce4294" /><Relationship Type="http://schemas.openxmlformats.org/officeDocument/2006/relationships/slide" Target="/ppt/slides/slide9.xml" Id="Rd3f58b7766d94653" /><Relationship Type="http://schemas.openxmlformats.org/officeDocument/2006/relationships/slide" Target="/ppt/slides/slide10.xml" Id="Re3558644ee19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7098d9cb03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f4f39420f4f16" /><Relationship Type="http://schemas.openxmlformats.org/officeDocument/2006/relationships/notesMaster" Target="/ppt/notesMasters/notesMaster1.xml" Id="Re388adb0ac5d48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da05d6e7ed483b" /><Relationship Type="http://schemas.openxmlformats.org/officeDocument/2006/relationships/notesMaster" Target="/ppt/notesMasters/notesMaster1.xml" Id="R5375389b90844c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d23f39a564900" /><Relationship Type="http://schemas.openxmlformats.org/officeDocument/2006/relationships/notesMaster" Target="/ppt/notesMasters/notesMaster1.xml" Id="R9b1d811cc89f4c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9f2d5e936b4c5f" /><Relationship Type="http://schemas.openxmlformats.org/officeDocument/2006/relationships/notesMaster" Target="/ppt/notesMasters/notesMaster1.xml" Id="R6fdc4854ecaa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706a7c4b84354" /><Relationship Type="http://schemas.openxmlformats.org/officeDocument/2006/relationships/notesMaster" Target="/ppt/notesMasters/notesMaster1.xml" Id="Rba0f4170f63146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1a8fed76504b58" /><Relationship Type="http://schemas.openxmlformats.org/officeDocument/2006/relationships/notesMaster" Target="/ppt/notesMasters/notesMaster1.xml" Id="Rf6dbb6c6997e4e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554652d8934fa3" /><Relationship Type="http://schemas.openxmlformats.org/officeDocument/2006/relationships/notesMaster" Target="/ppt/notesMasters/notesMaster1.xml" Id="R11035661657b43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647de7512f4181" /><Relationship Type="http://schemas.openxmlformats.org/officeDocument/2006/relationships/notesMaster" Target="/ppt/notesMasters/notesMaster1.xml" Id="Rf76cde1888ca4a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d4c1a1a93e4d8a" /><Relationship Type="http://schemas.openxmlformats.org/officeDocument/2006/relationships/notesMaster" Target="/ppt/notesMasters/notesMaster1.xml" Id="Rc0ed8c9c01704f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75dd8ef5e54f0a" /><Relationship Type="http://schemas.openxmlformats.org/officeDocument/2006/relationships/notesMaster" Target="/ppt/notesMasters/notesMaster1.xml" Id="Rdca438d7adab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the project now focuses on full software simulation rather than physical Raspberry Pi hardware. State the core claim: adaptive timing reduces waiting time or queue length while maintaining zero conflicting-green violations.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decision to move away from hardware: simulation gives repeatable evidence and keeps the project focused on controller logic and safety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scope clear. The project is still complete because it implements the algorithm, simulator, dashboard, tests, and evaluation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architecture gives a clean explanation for the simulation-only pivot. The algorithm does not depend on GPIO or a physical sensor.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adaptive algorithm never directly commands arbitrary lamp colours. It only influences the green phase duration.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fixed and adaptive benchmark pairs use the same seed, so the arrival trace is identical for the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the live dashboard is slow during the demo. The images are saved Playwright screenshots from the implemented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results/dissertation/benchmark_summary.csv and results/dissertation/results_summary.md. The benchmark used 300-second runs, 0.5-second steps, and seeds 1 to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results/dissertation/failure_modes.csv and results/dissertation/results_summary.md. Explain that faults alter demand readings only; they do not set signal colours.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limitation clearly: this is a controlled simulation, not a public-road controller. Point to future work such as pedestrian phases, richer detector noise, SUMO validation, and optional hardware adapters.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ac9427674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18074d56e4691" /><Relationship Type="http://schemas.openxmlformats.org/officeDocument/2006/relationships/slideLayout" Target="/ppt/slideLayouts/slideLayout1.xml" Id="R42c6f533989948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6f533989948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86b67e9e246b8" /><Relationship Type="http://schemas.openxmlformats.org/officeDocument/2006/relationships/image" Target="/ppt/media/image.png" Id="R3d523c0b85844612" /><Relationship Type="http://schemas.openxmlformats.org/officeDocument/2006/relationships/notesSlide" Target="/ppt/notesSlides/notesSlide1.xml" Id="R949ed9d89d0d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2c5a569b645bb" /><Relationship Type="http://schemas.openxmlformats.org/officeDocument/2006/relationships/notesSlide" Target="/ppt/notesSlides/notesSlide2.xml" Id="R562a4a058fa0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1223f17504f0e" /><Relationship Type="http://schemas.openxmlformats.org/officeDocument/2006/relationships/notesSlide" Target="/ppt/notesSlides/notesSlide3.xml" Id="R59f1f093cd8c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ffc2d030b41cc" /><Relationship Type="http://schemas.openxmlformats.org/officeDocument/2006/relationships/notesSlide" Target="/ppt/notesSlides/notesSlide4.xml" Id="R69223846dea44a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745b7391e4b20" /><Relationship Type="http://schemas.openxmlformats.org/officeDocument/2006/relationships/notesSlide" Target="/ppt/notesSlides/notesSlide5.xml" Id="Rc667f7e7f1f243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ca9c81efd4bf9" /><Relationship Type="http://schemas.openxmlformats.org/officeDocument/2006/relationships/notesSlide" Target="/ppt/notesSlides/notesSlide6.xml" Id="R7d16fe32d2e34e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fa9841c0d4700" /><Relationship Type="http://schemas.openxmlformats.org/officeDocument/2006/relationships/image" Target="/ppt/media/image2.png" Id="R71d0f6b3979948c8" /><Relationship Type="http://schemas.openxmlformats.org/officeDocument/2006/relationships/image" Target="/ppt/media/image3.png" Id="Rb70e180b662f4fca" /><Relationship Type="http://schemas.openxmlformats.org/officeDocument/2006/relationships/notesSlide" Target="/ppt/notesSlides/notesSlide7.xml" Id="Rcf62d7f8ccdf43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c1c702bef4f9e" /><Relationship Type="http://schemas.openxmlformats.org/officeDocument/2006/relationships/chart" Target="/ppt/slides/charts/chart1.xml" Id="R272033ec1aed4b3c" /><Relationship Type="http://schemas.openxmlformats.org/officeDocument/2006/relationships/notesSlide" Target="/ppt/notesSlides/notesSlide8.xml" Id="R4e170fcca9dd46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b23ed692f4b17" /><Relationship Type="http://schemas.openxmlformats.org/officeDocument/2006/relationships/notesSlide" Target="/ppt/notesSlides/notesSlide9.xml" Id="R5a46f76f0a9b4a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6d16cd1644165" /><Relationship Type="http://schemas.openxmlformats.org/officeDocument/2006/relationships/notesSlide" Target="/ppt/notesSlides/notesSlide10.xml" Id="Reeb284a0ed724f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</c:v>
          </c:tx>
          <c:spPr>
            <a:solidFill xmlns:a="http://schemas.openxmlformats.org/drawingml/2006/main">
              <a:srgbClr val="637083"/>
            </a:solidFill>
          </c:spPr>
          <c:cat>
            <c:strRef>
              <c:f>'Chart Data'!$A$2:$A$6</c:f>
              <c:strCache>
                <c:ptCount val="5"/>
                <c:pt idx="0">
                  <c:v>Balanced</c:v>
                </c:pt>
                <c:pt idx="1">
                  <c:v>NS-heavy</c:v>
                </c:pt>
                <c:pt idx="2">
                  <c:v>EW-heavy</c:v>
                </c:pt>
                <c:pt idx="3">
                  <c:v>NS-burst</c:v>
                </c:pt>
                <c:pt idx="4">
                  <c:v>Alt peak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265.27</c:v>
                </c:pt>
                <c:pt idx="1">
                  <c:v>281.27</c:v>
                </c:pt>
                <c:pt idx="2">
                  <c:v>290.81</c:v>
                </c:pt>
                <c:pt idx="3">
                  <c:v>287.02</c:v>
                </c:pt>
                <c:pt idx="4">
                  <c:v>301.63</c:v>
                </c:pt>
              </c:numCache>
            </c:numRef>
          </c:val>
        </c:ser>
        <c:ser>
          <c:idx val="1"/>
          <c:order val="1"/>
          <c:tx>
            <c:v>Adaptive</c:v>
          </c:tx>
          <c:spPr>
            <a:solidFill xmlns:a="http://schemas.openxmlformats.org/drawingml/2006/main">
              <a:srgbClr val="1F6FEB"/>
            </a:solidFill>
          </c:spPr>
          <c:cat>
            <c:strRef>
              <c:f>'Chart Data'!$C$2:$C$6</c:f>
              <c:strCache>
                <c:ptCount val="5"/>
                <c:pt idx="0">
                  <c:v>Balanced</c:v>
                </c:pt>
                <c:pt idx="1">
                  <c:v>NS-heavy</c:v>
                </c:pt>
                <c:pt idx="2">
                  <c:v>EW-heavy</c:v>
                </c:pt>
                <c:pt idx="3">
                  <c:v>NS-burst</c:v>
                </c:pt>
                <c:pt idx="4">
                  <c:v>Alt peak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251.5</c:v>
                </c:pt>
                <c:pt idx="1">
                  <c:v>263.76</c:v>
                </c:pt>
                <c:pt idx="2">
                  <c:v>271.35</c:v>
                </c:pt>
                <c:pt idx="3">
                  <c:v>271.31</c:v>
                </c:pt>
                <c:pt idx="4">
                  <c:v>279.81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2A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7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37083"/>
                    </a:solidFill>
                    <a:latin typeface="Arial"/>
                    <a:ea typeface="Arial"/>
                    <a:cs typeface="Arial"/>
                  </a:rPr>
                  <a:t>Mean wait, 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3708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7202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5EB8F-E68B-42A1-A239-F3140314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Design and Evaluation of a Simulation-Based Adaptive Smart Traffic-Light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F31E3-0425-4459-914F-43B7FBB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Final-year project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2FF55-6B6A-403F-8520-AEBAB7A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6FEB"/>
                </a:solidFill>
                <a:latin typeface="Arial"/>
                <a:ea typeface="Arial"/>
                <a:cs typeface="Arial"/>
              </a:rPr>
              <a:t>Software simulation | dashboard | repeatable benchmarks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23c0b85844612"/>
          <a:srcRect xmlns:a="http://schemas.openxmlformats.org/drawingml/2006/main" l="27689" t="0" r="27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819150"/>
            <a:ext cx="3143250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B1BFE-BEC2-46C1-A854-6968537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1</a:t>
            </a:r>
          </a:p>
        </p:txBody>
      </p:sp>
    </p:spTree>
    <p:extLst>
      <p:ext uri="{BB962C8B-B14F-4D97-AF65-F5344CB8AC3E}">
        <p14:creationId xmlns:p14="http://schemas.microsoft.com/office/powerpoint/2010/main" val="123985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126A3-325D-4A8D-B475-B555C58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Project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7C737-479C-4791-81A3-6687828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Fixed-time traffic lights cannot react to changing demand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A9761-B709-4190-9256-CF02D944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F0E78-5B83-43F6-9FFF-40B93861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 fixed cycle may serve an empty approach while vehicles wait elsewhere.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Adaptive timing can allocate longer green time to the busier movement.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Any timing improvement must preserve amber and all-red clearance.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evaluates the algorithm with repeatable simulation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E374C-180A-486B-9617-22E6E212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5CBDE-0D77-4181-BCC8-F406DC5B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benchmark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3F2A5-9102-4A4B-B1FF-A6FC285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1C564-92DF-4377-B19A-49A3846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random seeds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DCBFD-04FD-4D45-95F6-68D370CA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3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3E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B0FE7-8A2A-4249-A2D5-A872904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hardware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C83CE-D12F-47E9-8F70-04D0DE0C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2</a:t>
            </a:r>
          </a:p>
        </p:txBody>
      </p:sp>
    </p:spTree>
    <p:extLst>
      <p:ext uri="{BB962C8B-B14F-4D97-AF65-F5344CB8AC3E}">
        <p14:creationId xmlns:p14="http://schemas.microsoft.com/office/powerpoint/2010/main" val="31877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BDDFB-20A2-4BA6-9383-FA6F24DA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B3AA4-E09C-4A89-8E58-C9AEBAF9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A complete simulation project, not a public-road controller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EE218-AE26-4996-A3A2-9C69162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19150" y="1638300"/>
          <a:ext xmlns:a="http://schemas.openxmlformats.org/drawingml/2006/main" cx="9334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533400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Included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Safe four-way phase state machine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Raspberry Pi deployment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Fixed-time and adaptive controllers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GPIO wiring and physical LEDs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Traffic scenarios and detector faults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Camera hardware and real detector calibration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SQLite logging, FastAPI,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Pedestrian and emergency vehicle phases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Benchmark CSV, charts, report exports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Public-road operation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89B11-7E09-451D-B6F5-4768799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3</a:t>
            </a:r>
          </a:p>
        </p:txBody>
      </p:sp>
    </p:spTree>
    <p:extLst>
      <p:ext uri="{BB962C8B-B14F-4D97-AF65-F5344CB8AC3E}">
        <p14:creationId xmlns:p14="http://schemas.microsoft.com/office/powerpoint/2010/main" val="793182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41F20-82D5-4CE3-A940-2F2E17B6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Implementation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F0D3A-7D44-45A4-97E5-ABC8ADF2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The controller stays separate from simulation, storage, and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7DCCF-C6BF-4C13-9427-0156F37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363200" cy="2971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4762500"/>
                <a:gridCol w="3790950"/>
              </a:tblGrid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files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Signal phases, timing, safety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src/trafficlight/domain/</a:t>
                      </a:r>
                    </a:p>
                  </a:txBody>
                  <a:tcPr marL="91440" marR="91440" marT="45720" marB="45720"/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Simulation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Queues, scenarios, faults, benchmarks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src/trafficlight/simulation/</a:t>
                      </a:r>
                    </a:p>
                  </a:txBody>
                  <a:tcPr marL="91440" marR="91440" marT="45720" marB="45720"/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SQLite run, event, detector, metric logging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src/trafficlight/storage/</a:t>
                      </a:r>
                    </a:p>
                  </a:txBody>
                  <a:tcPr marL="91440" marR="91440" marT="45720" marB="45720"/>
                </a:tc>
              </a:tr>
              <a:tr h="5943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CLI, FastAPI, WebSocket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src/trafficlight/main.py, api/, dashboard/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CBA09-431F-4418-A547-D58AAAC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6FEB"/>
                </a:solidFill>
                <a:latin typeface="Arial"/>
                <a:ea typeface="Arial"/>
                <a:cs typeface="Arial"/>
              </a:rPr>
              <a:t>Same controller code is used by the CLI, API, dashboard stream, and benchmark scripts.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D6AC9-6C4E-4171-B755-DC85F6CC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4</a:t>
            </a:r>
          </a:p>
        </p:txBody>
      </p:sp>
    </p:spTree>
    <p:extLst>
      <p:ext uri="{BB962C8B-B14F-4D97-AF65-F5344CB8AC3E}">
        <p14:creationId xmlns:p14="http://schemas.microsoft.com/office/powerpoint/2010/main" val="580302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A61F-C4E9-4EDC-A90C-C4B49EBA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Controller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5FFAA-8E45-40E0-8F9C-34622506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Adaptive timing changes green duration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C1A9C-6EE6-4163-A818-C44BC46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F900E-743B-4E0E-83FF-F6D3AB88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Safe phase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34FD2-7752-46B9-9D6F-C97F4FAF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8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852"/>
                </a:solidFill>
                <a:latin typeface="Arial"/>
                <a:ea typeface="Arial"/>
                <a:cs typeface="Arial"/>
              </a:rPr>
              <a:t>all-red -&gt; NS green -&gt; NS amber -&gt; all-red -&gt; EW green -&gt; EW amber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98B1C-542C-40E6-A204-5988AAD2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Fixed and adaptive controllers share the same phase machine.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Every signal state passes through the conflicting-green safety check.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Minimum green protects active traffic from instant switching.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Maximum green prevents one movement from holding green indefinitely.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AAEA6-62EF-46BC-842F-8FD1862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B1645-C448-4E78-8DC9-4097EE5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conflicting-green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23A37-0203-4C57-8662-7C9F696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5</a:t>
            </a:r>
          </a:p>
        </p:txBody>
      </p:sp>
    </p:spTree>
    <p:extLst>
      <p:ext uri="{BB962C8B-B14F-4D97-AF65-F5344CB8AC3E}">
        <p14:creationId xmlns:p14="http://schemas.microsoft.com/office/powerpoint/2010/main" val="1548529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626CD-2463-40CC-BF16-802AFE3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Simulation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BAA99-F849-4AFA-916F-A6EB7A33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Each run advances the intersection in fixed time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E047E-DEEC-4AA1-9017-A940555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863C9-29AD-4FED-AF02-723D16C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Generate arrivals from the selected traffic scenario.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Create true queue demand for North, East, South, and West.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Apply detector faults when a fault profile is selected.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Advance the controller and check for unsafe signal states.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02A"/>
                </a:solidFill>
                <a:latin typeface="Arial"/>
                <a:ea typeface="Arial"/>
                <a:cs typeface="Arial"/>
              </a:rPr>
              <a:t>Discharge vehicles on green approaches and record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4E028-430C-4DB9-81F8-F40FFB65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Experiment settings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715250" y="2133600"/>
          <a:ext xmlns:a="http://schemas.openxmlformats.org/drawingml/2006/main" cx="30480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1524000"/>
              </a:tblGrid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300 s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0.5 s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Seeds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 to 10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Scenarios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9CDA0-971D-4FFC-A8E4-432DCAA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6</a:t>
            </a:r>
          </a:p>
        </p:txBody>
      </p:sp>
    </p:spTree>
    <p:extLst>
      <p:ext uri="{BB962C8B-B14F-4D97-AF65-F5344CB8AC3E}">
        <p14:creationId xmlns:p14="http://schemas.microsoft.com/office/powerpoint/2010/main" val="1667806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CB526-26B1-4AEC-A52F-F599DD89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Dashboard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0873A-309B-441A-AE6C-16E46FA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Live simulation and detector faults are visible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EB34B-948B-484E-B945-C361C374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0f6b3979948c8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85900"/>
            <a:ext cx="4953000" cy="3714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e180b662f4fca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8590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E1000-64D5-4AF8-A6A3-21F6B9D1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Live queues and moving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73DD5-22F5-4AA9-8FA0-FAEBCFF3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Detector stuck high while real queue is lower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6A154-6E5A-4D53-A552-6FCAA8A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7</a:t>
            </a:r>
          </a:p>
        </p:txBody>
      </p:sp>
    </p:spTree>
    <p:extLst>
      <p:ext uri="{BB962C8B-B14F-4D97-AF65-F5344CB8AC3E}">
        <p14:creationId xmlns:p14="http://schemas.microsoft.com/office/powerpoint/2010/main" val="2085143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9F38D-DFFA-467E-8796-8E287F0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11CD7-F612-45FE-AA89-B5F81BB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Adaptive control reduced mean wait in all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3D4BA-A34E-4034-AE60-E8957232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8191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2033ec1aed4b3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E85CB-80F5-4097-8179-057E104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5.18%-7.24%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BD12D-ED38-41E0-A003-8FC6550B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mean-wait improvement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CC5E4-4C5A-46A5-BD83-F78C97E7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8B739-4FD6-413F-9376-5544994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safety violations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59AAA-65D1-46D6-81CA-198465E1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8</a:t>
            </a:r>
          </a:p>
        </p:txBody>
      </p:sp>
    </p:spTree>
    <p:extLst>
      <p:ext uri="{BB962C8B-B14F-4D97-AF65-F5344CB8AC3E}">
        <p14:creationId xmlns:p14="http://schemas.microsoft.com/office/powerpoint/2010/main" val="992099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2D39B-7B29-4CEF-9E77-A968747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Fault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EA74F-1670-45D2-871B-DCC434D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Bad detector input affects performance, not phase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D24E0-04CE-442C-9392-09CCEC8E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98107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1238250"/>
                <a:gridCol w="1714500"/>
                <a:gridCol w="1809750"/>
                <a:gridCol w="1714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Fault profile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wait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Safety violations</a:t>
                      </a:r>
                    </a:p>
                  </a:txBody>
                  <a:tcPr marL="91440" marR="91440" marT="45720" marB="45720">
                    <a:solidFill>
                      <a:srgbClr val="404852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225.80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263.76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ns-stuck-high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228.40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258.04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ew-stuck-low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253.49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all-stuck-low-midrun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196.60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314.48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90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AD838-0FA1-495F-A032-551E3DE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worst fault profile reduced completed vehicles and increased waiting time, but no test produced conflicting green signals.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46465-639A-4DCC-B1EB-C0096927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9</a:t>
            </a:r>
          </a:p>
        </p:txBody>
      </p:sp>
    </p:spTree>
    <p:extLst>
      <p:ext uri="{BB962C8B-B14F-4D97-AF65-F5344CB8AC3E}">
        <p14:creationId xmlns:p14="http://schemas.microsoft.com/office/powerpoint/2010/main" val="2907511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E29AD-C443-4846-BF54-05F5206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821A2-EC99-4F99-8C0A-C1822A0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The simulation supports the adaptive-control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1B0E5-5ACA-48C8-9BCB-2A408F5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5F52B-741B-410A-AC73-FAB8FFEF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7429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runs fully in software with no physical hardware dependency.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Adaptive timing reduced mean wait in all five benchmark scenarios.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adaptive controller completed more vehicles than the fixed-time baseline.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Benchmark and detector-fault experiments recorded zero conflicting-green violations.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main limitation is the simplified traffic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F8F22-80B1-4D64-83EE-79284A3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6F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F1455-158C-489B-A28E-A832975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tests passing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A8FCD-FCFF-40D4-8798-A981C23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9D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9D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8A825-5F71-4ABE-854F-851EF175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final safety violations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FB63A-A87B-4FF6-A5E0-8EAF3472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Smart Traffic-Light Simulation | 10</a:t>
            </a:r>
          </a:p>
        </p:txBody>
      </p:sp>
    </p:spTree>
    <p:extLst>
      <p:ext uri="{BB962C8B-B14F-4D97-AF65-F5344CB8AC3E}">
        <p14:creationId xmlns:p14="http://schemas.microsoft.com/office/powerpoint/2010/main" val="1403687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2026-09-09T08:07:05.3540000Z</dcterms:created>
  <dcterms:modified xsi:type="dcterms:W3CDTF">2026-09-09T08:07:05.3540000Z</dcterms:modified>
</coreProperties>
</file>