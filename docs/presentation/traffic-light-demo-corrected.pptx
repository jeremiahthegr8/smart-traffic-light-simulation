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74bb64ba6bb43f5" /><Relationship Type="http://schemas.openxmlformats.org/officeDocument/2006/relationships/extended-properties" Target="/docProps/app.xml" Id="R3498277282524837" /><Relationship Type="http://schemas.openxmlformats.org/officeDocument/2006/relationships/officeDocument" Target="/ppt/presentation.xml" Id="Re6e4cfad0ea44d80" /></Relationships>
</file>

<file path=ppt/presentation.xml><?xml version="1.0" encoding="utf-8"?>
<p:presentation xmlns:p="http://schemas.openxmlformats.org/presentationml/2006/main">
  <p:sldMasterIdLst>
    <p:sldMasterId xmlns:r="http://schemas.openxmlformats.org/officeDocument/2006/relationships" id="2147483648" r:id="Raa950d69b44648f4"/>
  </p:sldMasterIdLst>
  <p:notesMasterIdLst>
    <p:notesMasterId xmlns:r="http://schemas.openxmlformats.org/officeDocument/2006/relationships" r:id="Rff16ba4140774159"/>
  </p:notesMasterIdLst>
  <p:sldIdLst>
    <p:sldId xmlns:r="http://schemas.openxmlformats.org/officeDocument/2006/relationships" id="256" r:id="R45b793490a4f446a"/>
    <p:sldId xmlns:r="http://schemas.openxmlformats.org/officeDocument/2006/relationships" id="257" r:id="R009a35cf55994f71"/>
    <p:sldId xmlns:r="http://schemas.openxmlformats.org/officeDocument/2006/relationships" id="258" r:id="Rf31f0598e67b4dde"/>
    <p:sldId xmlns:r="http://schemas.openxmlformats.org/officeDocument/2006/relationships" id="259" r:id="R18ef3c73b44a4f87"/>
    <p:sldId xmlns:r="http://schemas.openxmlformats.org/officeDocument/2006/relationships" id="260" r:id="Rbf0c5193fd454bb1"/>
    <p:sldId xmlns:r="http://schemas.openxmlformats.org/officeDocument/2006/relationships" id="261" r:id="R96e70ebe51fc44ea"/>
    <p:sldId xmlns:r="http://schemas.openxmlformats.org/officeDocument/2006/relationships" id="262" r:id="R5d6808bbedcf4fd2"/>
    <p:sldId xmlns:r="http://schemas.openxmlformats.org/officeDocument/2006/relationships" id="263" r:id="Rda41465dcbd5457e"/>
    <p:sldId xmlns:r="http://schemas.openxmlformats.org/officeDocument/2006/relationships" id="264" r:id="R4a62bf5b2ae3495d"/>
    <p:sldId xmlns:r="http://schemas.openxmlformats.org/officeDocument/2006/relationships" id="265" r:id="R972992a79f294775"/>
    <p:sldId xmlns:r="http://schemas.openxmlformats.org/officeDocument/2006/relationships" id="266" r:id="R58e4d30142bf4a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2a37baf6ee41bc" /><Relationship Type="http://schemas.openxmlformats.org/officeDocument/2006/relationships/slideMaster" Target="/ppt/slideMasters/slideMaster1.xml" Id="Raa950d69b44648f4" /><Relationship Type="http://schemas.openxmlformats.org/officeDocument/2006/relationships/notesMaster" Target="/ppt/notesMasters/notesMaster1.xml" Id="Rff16ba4140774159" /><Relationship Type="http://schemas.openxmlformats.org/officeDocument/2006/relationships/presProps" Target="/ppt/presProps.xml" Id="R62c3eb842dbf4bcc" /><Relationship Type="http://schemas.openxmlformats.org/officeDocument/2006/relationships/tableStyles" Target="/ppt/tableStyles.xml" Id="R64a9aabdcbcb4dad" /><Relationship Type="http://schemas.openxmlformats.org/officeDocument/2006/relationships/slide" Target="/ppt/slides/slide1.xml" Id="R45b793490a4f446a" /><Relationship Type="http://schemas.openxmlformats.org/officeDocument/2006/relationships/slide" Target="/ppt/slides/slide2.xml" Id="R009a35cf55994f71" /><Relationship Type="http://schemas.openxmlformats.org/officeDocument/2006/relationships/slide" Target="/ppt/slides/slide3.xml" Id="Rf31f0598e67b4dde" /><Relationship Type="http://schemas.openxmlformats.org/officeDocument/2006/relationships/slide" Target="/ppt/slides/slide4.xml" Id="R18ef3c73b44a4f87" /><Relationship Type="http://schemas.openxmlformats.org/officeDocument/2006/relationships/slide" Target="/ppt/slides/slide5.xml" Id="Rbf0c5193fd454bb1" /><Relationship Type="http://schemas.openxmlformats.org/officeDocument/2006/relationships/slide" Target="/ppt/slides/slide6.xml" Id="R96e70ebe51fc44ea" /><Relationship Type="http://schemas.openxmlformats.org/officeDocument/2006/relationships/slide" Target="/ppt/slides/slide7.xml" Id="R5d6808bbedcf4fd2" /><Relationship Type="http://schemas.openxmlformats.org/officeDocument/2006/relationships/slide" Target="/ppt/slides/slide8.xml" Id="Rda41465dcbd5457e" /><Relationship Type="http://schemas.openxmlformats.org/officeDocument/2006/relationships/slide" Target="/ppt/slides/slide9.xml" Id="R4a62bf5b2ae3495d" /><Relationship Type="http://schemas.openxmlformats.org/officeDocument/2006/relationships/slide" Target="/ppt/slides/slide10.xml" Id="R972992a79f294775" /><Relationship Type="http://schemas.openxmlformats.org/officeDocument/2006/relationships/slide" Target="/ppt/slides/slide11.xml" Id="R58e4d30142bf4a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8b79c3f69a45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66f9f492ea451d" /><Relationship Type="http://schemas.openxmlformats.org/officeDocument/2006/relationships/notesMaster" Target="/ppt/notesMasters/notesMaster1.xml" Id="Rb61aa5f6039648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3c91d739b741e7" /><Relationship Type="http://schemas.openxmlformats.org/officeDocument/2006/relationships/notesMaster" Target="/ppt/notesMasters/notesMaster1.xml" Id="R05c973ae4b1843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6794b1453e4d83" /><Relationship Type="http://schemas.openxmlformats.org/officeDocument/2006/relationships/notesMaster" Target="/ppt/notesMasters/notesMaster1.xml" Id="Rba0f8f50c7b147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4e22f1468546e7" /><Relationship Type="http://schemas.openxmlformats.org/officeDocument/2006/relationships/notesMaster" Target="/ppt/notesMasters/notesMaster1.xml" Id="Rae023992aa334e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edc1e6a1084a99" /><Relationship Type="http://schemas.openxmlformats.org/officeDocument/2006/relationships/notesMaster" Target="/ppt/notesMasters/notesMaster1.xml" Id="R424d813413aa4d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d8291c41be42aa" /><Relationship Type="http://schemas.openxmlformats.org/officeDocument/2006/relationships/notesMaster" Target="/ppt/notesMasters/notesMaster1.xml" Id="R2fd941bdcae142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cef02453d24fc3" /><Relationship Type="http://schemas.openxmlformats.org/officeDocument/2006/relationships/notesMaster" Target="/ppt/notesMasters/notesMaster1.xml" Id="R152ac7788d054f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39ac5b1ba14cc9" /><Relationship Type="http://schemas.openxmlformats.org/officeDocument/2006/relationships/notesMaster" Target="/ppt/notesMasters/notesMaster1.xml" Id="Re5b674f080d24e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01e7705f004f2b" /><Relationship Type="http://schemas.openxmlformats.org/officeDocument/2006/relationships/notesMaster" Target="/ppt/notesMasters/notesMaster1.xml" Id="R15f47054f8e74f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f7456d201244a2" /><Relationship Type="http://schemas.openxmlformats.org/officeDocument/2006/relationships/notesMaster" Target="/ppt/notesMasters/notesMaster1.xml" Id="R1086c19339084a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e6da1a2dd54a87" /><Relationship Type="http://schemas.openxmlformats.org/officeDocument/2006/relationships/notesMaster" Target="/ppt/notesMasters/notesMaster1.xml" Id="Rebd75e4f4eb942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the project now focuses on full software simulation rather than physical Raspberry Pi hardware. State the core claim: adaptive timing reduces waiting time or queue length while maintaining zero conflicting-green violations.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decision to move away from hardware: simulation gives repeatable evidence and keeps the project focused on controller logic and safety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answer the examiner's likely concern: similar systems exist, but this submission is an engineering implementation with requirements, architecture, tests, evaluation,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vehicles are detected by a virtual detector in the simulation. Rain, darkness, glare, and dirt are discussed as causes of bad readings, represented by detector-fault profiles rather than physical perception.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architecture gives a clean explanation for the simulation-only pivot. The algorithm does not depend on GPIO or a physical sensor.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the adaptive algorithm never directly commands arbitrary lamp colours. It only influences the green phase duration.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fixed and adaptive benchmark pairs use the same seed, so the arrival trace is identical for the comparison. The corrected simulator samples arrivals from configured demand rates and measures mean wait from completed vehicles.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if the live dashboard is slow during the demo. The images are saved Playwright screenshots from the implemented 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results/dissertation/benchmark_summary.csv and results/dissertation/results_summary.md. The benchmark used 300-second runs, 0.5-second steps, and seeds 1 to 10. Results use the corrected completed-vehicle wait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results/dissertation/failure_modes.csv and results/dissertation/results_summary.md. Explain that faults alter demand readings only; they do not set signal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limitation clearly: this is a controlled simulation, not a public-road controller. Point to future work such as pedestrian phases, richer detector noise, SUMO validation, and optional hardware adapters.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bc741832c748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0adc3585a84ba9" /><Relationship Type="http://schemas.openxmlformats.org/officeDocument/2006/relationships/slideLayout" Target="/ppt/slideLayouts/slideLayout1.xml" Id="R4893ce43893b4d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93ce43893b4d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63563d9b904439" /><Relationship Type="http://schemas.openxmlformats.org/officeDocument/2006/relationships/image" Target="/ppt/media/image.png" Id="R52e2e4cc544347df" /><Relationship Type="http://schemas.openxmlformats.org/officeDocument/2006/relationships/notesSlide" Target="/ppt/notesSlides/notesSlide1.xml" Id="R4a24bee668d240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ab81fa784d4f9b" /><Relationship Type="http://schemas.openxmlformats.org/officeDocument/2006/relationships/notesSlide" Target="/ppt/notesSlides/notesSlide2.xml" Id="Rb092b556faa246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f18812f28f431e" /><Relationship Type="http://schemas.openxmlformats.org/officeDocument/2006/relationships/notesSlide" Target="/ppt/notesSlides/notesSlide3.xml" Id="Rfd9360e29aa84d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d3f6c84ed449c7" /><Relationship Type="http://schemas.openxmlformats.org/officeDocument/2006/relationships/notesSlide" Target="/ppt/notesSlides/notesSlide4.xml" Id="R63f7cf692c074a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71995966bd4e10" /><Relationship Type="http://schemas.openxmlformats.org/officeDocument/2006/relationships/notesSlide" Target="/ppt/notesSlides/notesSlide5.xml" Id="Rc7cab3b7d9a943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5a8efbe6434099" /><Relationship Type="http://schemas.openxmlformats.org/officeDocument/2006/relationships/notesSlide" Target="/ppt/notesSlides/notesSlide6.xml" Id="R8526d65a2ff54a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b9ab63e21349fb" /><Relationship Type="http://schemas.openxmlformats.org/officeDocument/2006/relationships/notesSlide" Target="/ppt/notesSlides/notesSlide7.xml" Id="R6b983b5391504f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2720b3862b40a4" /><Relationship Type="http://schemas.openxmlformats.org/officeDocument/2006/relationships/image" Target="/ppt/media/image2.png" Id="Ref90e5d8794f4bc6" /><Relationship Type="http://schemas.openxmlformats.org/officeDocument/2006/relationships/image" Target="/ppt/media/image3.png" Id="R8b8c732970ad447f" /><Relationship Type="http://schemas.openxmlformats.org/officeDocument/2006/relationships/notesSlide" Target="/ppt/notesSlides/notesSlide8.xml" Id="R9a85757d815d40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3aadfa9ea3483a" /><Relationship Type="http://schemas.openxmlformats.org/officeDocument/2006/relationships/chart" Target="/ppt/slides/charts/chart1.xml" Id="R7caf252d0921414d" /><Relationship Type="http://schemas.openxmlformats.org/officeDocument/2006/relationships/notesSlide" Target="/ppt/notesSlides/notesSlide9.xml" Id="R4bca8182e1374f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1b1d50438244ba" /><Relationship Type="http://schemas.openxmlformats.org/officeDocument/2006/relationships/notesSlide" Target="/ppt/notesSlides/notesSlide10.xml" Id="R85c2aafc25004c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17a530cb0234a79" /><Relationship Type="http://schemas.openxmlformats.org/officeDocument/2006/relationships/notesSlide" Target="/ppt/notesSlides/notesSlide11.xml" Id="R8456717590df46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c:v>
          </c:tx>
          <c:spPr>
            <a:solidFill xmlns:a="http://schemas.openxmlformats.org/drawingml/2006/main">
              <a:srgbClr val="637083"/>
            </a:solidFill>
          </c:spPr>
          <c:cat>
            <c:strRef>
              <c:f>'Chart Data'!$A$2:$A$6</c:f>
              <c:strCache>
                <c:ptCount val="5"/>
                <c:pt idx="0">
                  <c:v>Balanced</c:v>
                </c:pt>
                <c:pt idx="1">
                  <c:v>NS-heavy</c:v>
                </c:pt>
                <c:pt idx="2">
                  <c:v>EW-heavy</c:v>
                </c:pt>
                <c:pt idx="3">
                  <c:v>NS-burst</c:v>
                </c:pt>
                <c:pt idx="4">
                  <c:v>Alt peak</c:v>
                </c:pt>
              </c:strCache>
            </c:strRef>
          </c:cat>
          <c:val>
            <c:numRef>
              <c:f>'Chart Data'!$B$2:$B$6</c:f>
              <c:numCache>
                <c:formatCode>0</c:formatCode>
                <c:ptCount val="5"/>
                <c:pt idx="0">
                  <c:v>23.91</c:v>
                </c:pt>
                <c:pt idx="1">
                  <c:v>43.93</c:v>
                </c:pt>
                <c:pt idx="2">
                  <c:v>50.15</c:v>
                </c:pt>
                <c:pt idx="3">
                  <c:v>44.1</c:v>
                </c:pt>
                <c:pt idx="4">
                  <c:v>54.58</c:v>
                </c:pt>
              </c:numCache>
            </c:numRef>
          </c:val>
        </c:ser>
        <c:ser>
          <c:idx val="1"/>
          <c:order val="1"/>
          <c:tx>
            <c:v>Adaptive</c:v>
          </c:tx>
          <c:spPr>
            <a:solidFill xmlns:a="http://schemas.openxmlformats.org/drawingml/2006/main">
              <a:srgbClr val="1F6FEB"/>
            </a:solidFill>
          </c:spPr>
          <c:cat>
            <c:strRef>
              <c:f>'Chart Data'!$C$2:$C$6</c:f>
              <c:strCache>
                <c:ptCount val="5"/>
                <c:pt idx="0">
                  <c:v>Balanced</c:v>
                </c:pt>
                <c:pt idx="1">
                  <c:v>NS-heavy</c:v>
                </c:pt>
                <c:pt idx="2">
                  <c:v>EW-heavy</c:v>
                </c:pt>
                <c:pt idx="3">
                  <c:v>NS-burst</c:v>
                </c:pt>
                <c:pt idx="4">
                  <c:v>Alt peak</c:v>
                </c:pt>
              </c:strCache>
            </c:strRef>
          </c:cat>
          <c:val>
            <c:numRef>
              <c:f>'Chart Data'!$D$2:$D$6</c:f>
              <c:numCache>
                <c:formatCode>0</c:formatCode>
                <c:ptCount val="5"/>
                <c:pt idx="0">
                  <c:v>21.89</c:v>
                </c:pt>
                <c:pt idx="1">
                  <c:v>29.51</c:v>
                </c:pt>
                <c:pt idx="2">
                  <c:v>28.48</c:v>
                </c:pt>
                <c:pt idx="3">
                  <c:v>37.82</c:v>
                </c:pt>
                <c:pt idx="4">
                  <c:v>38.09</c:v>
                </c:pt>
              </c:numCache>
            </c:numRef>
          </c:val>
        </c:ser>
        <c:dLbls>
          <c:txPr>
            <a:bodyPr xmlns:a="http://schemas.openxmlformats.org/drawingml/2006/main" anchorCtr="1"/>
            <a:lstStyle xmlns:a="http://schemas.openxmlformats.org/drawingml/2006/main"/>
            <a:p xmlns:a="http://schemas.openxmlformats.org/drawingml/2006/main">
              <a:pPr>
                <a:defRPr sz="900">
                  <a:solidFill>
                    <a:srgbClr val="17202A"/>
                  </a:solidFill>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37083"/>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FD7DF"/>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637083"/>
                    </a:solidFill>
                    <a:latin typeface="Arial"/>
                    <a:ea typeface="Arial"/>
                    <a:cs typeface="Arial"/>
                  </a:rPr>
                  <a:t>Mean wait, seconds</a:t>
                </a:r>
              </a:p>
            </c:rich>
          </c:tx>
          <c:overlay val="0"/>
          <c:txPr>
            <a:bodyPr xmlns:a="http://schemas.openxmlformats.org/drawingml/2006/main" anchorCtr="1"/>
            <a:lstStyle xmlns:a="http://schemas.openxmlformats.org/drawingml/2006/main"/>
            <a:p xmlns:a="http://schemas.openxmlformats.org/drawingml/2006/main">
              <a:pPr>
                <a:defRPr sz="975">
                  <a:solidFill>
                    <a:srgbClr val="637083"/>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37083"/>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17202A"/>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4D84F0-9178-47D9-8BFB-C0472B50A6C0}"/>
              </a:ext>
            </a:extLst>
          </p:cNvPr>
          <p:cNvSpPr>
            <a:spLocks xmlns:a="http://schemas.openxmlformats.org/drawingml/2006/main" noGrp="1"/>
          </p:cNvSpPr>
          <p:nvPr/>
        </p:nvSpPr>
        <p:spPr>
          <a:xfrm xmlns:a="http://schemas.openxmlformats.org/drawingml/2006/main">
            <a:off x="704850" y="53340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17202A"/>
                </a:solidFill>
                <a:latin typeface="Arial"/>
                <a:ea typeface="Arial"/>
                <a:cs typeface="Arial"/>
              </a:defRPr>
            </a:pPr>
            <a:r>
              <a:rPr sz="1275" b="1">
                <a:solidFill>
                  <a:srgbClr val="17202A"/>
                </a:solidFill>
                <a:latin typeface="Arial"/>
                <a:ea typeface="Arial"/>
                <a:cs typeface="Arial"/>
              </a:rPr>
              <a:t>GHANA COMMUNICATION TECHNOLOGY UNIVERSITY (GCTU)</a:t>
            </a:r>
          </a:p>
        </p:txBody>
      </p:sp>
      <p:sp>
        <p:nvSpPr>
          <p:cNvPr id="2" name="">
            <a:extLst xmlns:a="http://schemas.openxmlformats.org/drawingml/2006/main">
              <a:ext uri="{FF2B5EF4-FFF2-40B4-BE49-F238E27FC236}">
                <a16:creationId xmlns:a16="http://schemas.microsoft.com/office/drawing/2014/main" id="{8E4F81FC-5852-48AC-AC12-CA2E2012D985}"/>
              </a:ext>
            </a:extLst>
          </p:cNvPr>
          <p:cNvSpPr>
            <a:spLocks xmlns:a="http://schemas.openxmlformats.org/drawingml/2006/main" noGrp="1"/>
          </p:cNvSpPr>
          <p:nvPr/>
        </p:nvSpPr>
        <p:spPr>
          <a:xfrm xmlns:a="http://schemas.openxmlformats.org/drawingml/2006/main">
            <a:off x="704850" y="8382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0">
                <a:solidFill>
                  <a:srgbClr val="637083"/>
                </a:solidFill>
                <a:latin typeface="Arial"/>
                <a:ea typeface="Arial"/>
                <a:cs typeface="Arial"/>
              </a:defRPr>
            </a:pPr>
            <a:r>
              <a:rPr sz="975" b="0">
                <a:solidFill>
                  <a:srgbClr val="637083"/>
                </a:solidFill>
                <a:latin typeface="Arial"/>
                <a:ea typeface="Arial"/>
                <a:cs typeface="Arial"/>
              </a:rPr>
              <a:t>FACULTY OF ENGINEERING | DEPARTMENT OF COMPUTER ENGINEERING</a:t>
            </a:r>
          </a:p>
        </p:txBody>
      </p:sp>
      <p:sp>
        <p:nvSpPr>
          <p:cNvPr id="3" name="">
            <a:extLst xmlns:a="http://schemas.openxmlformats.org/drawingml/2006/main">
              <a:ext uri="{FF2B5EF4-FFF2-40B4-BE49-F238E27FC236}">
                <a16:creationId xmlns:a16="http://schemas.microsoft.com/office/drawing/2014/main" id="{101C53A8-CB51-40E9-A2E1-D5EC455130B7}"/>
              </a:ext>
            </a:extLst>
          </p:cNvPr>
          <p:cNvSpPr>
            <a:spLocks xmlns:a="http://schemas.openxmlformats.org/drawingml/2006/main" noGrp="1"/>
          </p:cNvSpPr>
          <p:nvPr/>
        </p:nvSpPr>
        <p:spPr>
          <a:xfrm xmlns:a="http://schemas.openxmlformats.org/drawingml/2006/main">
            <a:off x="704850" y="1352550"/>
            <a:ext cx="7239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17202A"/>
                </a:solidFill>
                <a:latin typeface="Arial"/>
                <a:ea typeface="Arial"/>
                <a:cs typeface="Arial"/>
              </a:defRPr>
            </a:pPr>
            <a:r>
              <a:rPr sz="2850" b="1">
                <a:solidFill>
                  <a:srgbClr val="17202A"/>
                </a:solidFill>
                <a:latin typeface="Arial"/>
                <a:ea typeface="Arial"/>
                <a:cs typeface="Arial"/>
              </a:rPr>
              <a:t>Design and Evaluation of a Simulation-Based Adaptive Smart Traffic-Light Controller</a:t>
            </a:r>
          </a:p>
        </p:txBody>
      </p:sp>
      <p:sp>
        <p:nvSpPr>
          <p:cNvPr id="4" name="">
            <a:extLst xmlns:a="http://schemas.openxmlformats.org/drawingml/2006/main">
              <a:ext uri="{FF2B5EF4-FFF2-40B4-BE49-F238E27FC236}">
                <a16:creationId xmlns:a16="http://schemas.microsoft.com/office/drawing/2014/main" id="{60AEA265-5118-4230-B464-6557B3A7B2A4}"/>
              </a:ext>
            </a:extLst>
          </p:cNvPr>
          <p:cNvSpPr>
            <a:spLocks xmlns:a="http://schemas.openxmlformats.org/drawingml/2006/main" noGrp="1"/>
          </p:cNvSpPr>
          <p:nvPr/>
        </p:nvSpPr>
        <p:spPr>
          <a:xfrm xmlns:a="http://schemas.openxmlformats.org/drawingml/2006/main">
            <a:off x="742950" y="28765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0">
                <a:solidFill>
                  <a:srgbClr val="637083"/>
                </a:solidFill>
                <a:latin typeface="Arial"/>
                <a:ea typeface="Arial"/>
                <a:cs typeface="Arial"/>
              </a:defRPr>
            </a:pPr>
            <a:r>
              <a:rPr sz="1500" b="0">
                <a:solidFill>
                  <a:srgbClr val="637083"/>
                </a:solidFill>
                <a:latin typeface="Arial"/>
                <a:ea typeface="Arial"/>
                <a:cs typeface="Arial"/>
              </a:rPr>
              <a:t>Final-year project demonstration</a:t>
            </a:r>
          </a:p>
        </p:txBody>
      </p:sp>
      <p:sp>
        <p:nvSpPr>
          <p:cNvPr id="5" name="">
            <a:extLst xmlns:a="http://schemas.openxmlformats.org/drawingml/2006/main">
              <a:ext uri="{FF2B5EF4-FFF2-40B4-BE49-F238E27FC236}">
                <a16:creationId xmlns:a16="http://schemas.microsoft.com/office/drawing/2014/main" id="{34EF8945-90B4-4D9B-AA0D-A5DAE9156AFC}"/>
              </a:ext>
            </a:extLst>
          </p:cNvPr>
          <p:cNvSpPr>
            <a:spLocks xmlns:a="http://schemas.openxmlformats.org/drawingml/2006/main" noGrp="1"/>
          </p:cNvSpPr>
          <p:nvPr/>
        </p:nvSpPr>
        <p:spPr>
          <a:xfrm xmlns:a="http://schemas.openxmlformats.org/drawingml/2006/main">
            <a:off x="742950" y="32766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1F6FEB"/>
                </a:solidFill>
                <a:latin typeface="Arial"/>
                <a:ea typeface="Arial"/>
                <a:cs typeface="Arial"/>
              </a:defRPr>
            </a:pPr>
            <a:r>
              <a:rPr sz="1275" b="0">
                <a:solidFill>
                  <a:srgbClr val="1F6FEB"/>
                </a:solidFill>
                <a:latin typeface="Arial"/>
                <a:ea typeface="Arial"/>
                <a:cs typeface="Arial"/>
              </a:rPr>
              <a:t>Software simulation | dashboard | repeatable benchmarks</a:t>
            </a:r>
          </a:p>
        </p:txBody>
      </p:sp>
      <p:sp>
        <p:nvSpPr>
          <p:cNvPr id="6" name="">
            <a:extLst xmlns:a="http://schemas.openxmlformats.org/drawingml/2006/main">
              <a:ext uri="{FF2B5EF4-FFF2-40B4-BE49-F238E27FC236}">
                <a16:creationId xmlns:a16="http://schemas.microsoft.com/office/drawing/2014/main" id="{C68B1A77-40FF-461B-BD63-EBC6243AA0E8}"/>
              </a:ext>
            </a:extLst>
          </p:cNvPr>
          <p:cNvSpPr>
            <a:spLocks xmlns:a="http://schemas.openxmlformats.org/drawingml/2006/main" noGrp="1"/>
          </p:cNvSpPr>
          <p:nvPr/>
        </p:nvSpPr>
        <p:spPr>
          <a:xfrm xmlns:a="http://schemas.openxmlformats.org/drawingml/2006/main">
            <a:off x="742950" y="396240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75" b="1">
                <a:solidFill>
                  <a:srgbClr val="17202A"/>
                </a:solidFill>
                <a:latin typeface="Arial"/>
                <a:ea typeface="Arial"/>
                <a:cs typeface="Arial"/>
              </a:defRPr>
            </a:pPr>
            <a:r>
              <a:rPr sz="975" b="1">
                <a:solidFill>
                  <a:srgbClr val="17202A"/>
                </a:solidFill>
                <a:latin typeface="Arial"/>
                <a:ea typeface="Arial"/>
                <a:cs typeface="Arial"/>
              </a:rPr>
              <a:t>BY:</a:t>
            </a:r>
          </a:p>
        </p:txBody>
      </p:sp>
      <p:sp>
        <p:nvSpPr>
          <p:cNvPr id="7" name="">
            <a:extLst xmlns:a="http://schemas.openxmlformats.org/drawingml/2006/main">
              <a:ext uri="{FF2B5EF4-FFF2-40B4-BE49-F238E27FC236}">
                <a16:creationId xmlns:a16="http://schemas.microsoft.com/office/drawing/2014/main" id="{1625A9B1-F5E9-4311-BCFE-1444F35D03E9}"/>
              </a:ext>
            </a:extLst>
          </p:cNvPr>
          <p:cNvSpPr>
            <a:spLocks xmlns:a="http://schemas.openxmlformats.org/drawingml/2006/main" noGrp="1"/>
          </p:cNvSpPr>
          <p:nvPr/>
        </p:nvSpPr>
        <p:spPr>
          <a:xfrm xmlns:a="http://schemas.openxmlformats.org/drawingml/2006/main">
            <a:off x="742950" y="421005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25" b="0">
                <a:solidFill>
                  <a:srgbClr val="17202A"/>
                </a:solidFill>
                <a:latin typeface="Arial"/>
                <a:ea typeface="Arial"/>
                <a:cs typeface="Arial"/>
              </a:defRPr>
            </a:pPr>
            <a:r>
              <a:rPr sz="1125" b="0">
                <a:solidFill>
                  <a:srgbClr val="17202A"/>
                </a:solidFill>
                <a:latin typeface="Arial"/>
                <a:ea typeface="Arial"/>
                <a:cs typeface="Arial"/>
              </a:rPr>
              <a:t>HENYO THEOPHILUS - ID 4121230031</a:t>
            </a:r>
          </a:p>
          <a:p xmlns:a="http://schemas.openxmlformats.org/drawingml/2006/main">
            <a:pPr algn="l">
              <a:defRPr sz="1125" b="0">
                <a:solidFill>
                  <a:srgbClr val="17202A"/>
                </a:solidFill>
                <a:latin typeface="Arial"/>
                <a:ea typeface="Arial"/>
                <a:cs typeface="Arial"/>
              </a:defRPr>
            </a:pPr>
            <a:r>
              <a:rPr sz="1125" b="0">
                <a:solidFill>
                  <a:srgbClr val="17202A"/>
                </a:solidFill>
                <a:latin typeface="Arial"/>
                <a:ea typeface="Arial"/>
                <a:cs typeface="Arial"/>
              </a:rPr>
              <a:t>DJAGNI JERRY KODJO - ID 4121230036</a:t>
            </a:r>
          </a:p>
        </p:txBody>
      </p:sp>
      <p:sp>
        <p:nvSpPr>
          <p:cNvPr id="8" name="">
            <a:extLst xmlns:a="http://schemas.openxmlformats.org/drawingml/2006/main">
              <a:ext uri="{FF2B5EF4-FFF2-40B4-BE49-F238E27FC236}">
                <a16:creationId xmlns:a16="http://schemas.microsoft.com/office/drawing/2014/main" id="{73DDC963-048E-4E21-B170-A43A86B5C6E2}"/>
              </a:ext>
            </a:extLst>
          </p:cNvPr>
          <p:cNvSpPr>
            <a:spLocks xmlns:a="http://schemas.openxmlformats.org/drawingml/2006/main" noGrp="1"/>
          </p:cNvSpPr>
          <p:nvPr/>
        </p:nvSpPr>
        <p:spPr>
          <a:xfrm xmlns:a="http://schemas.openxmlformats.org/drawingml/2006/main">
            <a:off x="742950" y="49720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050" b="1">
                <a:solidFill>
                  <a:srgbClr val="17202A"/>
                </a:solidFill>
                <a:latin typeface="Arial"/>
                <a:ea typeface="Arial"/>
                <a:cs typeface="Arial"/>
              </a:defRPr>
            </a:pPr>
            <a:r>
              <a:rPr sz="1050" b="1">
                <a:solidFill>
                  <a:srgbClr val="17202A"/>
                </a:solidFill>
                <a:latin typeface="Arial"/>
                <a:ea typeface="Arial"/>
                <a:cs typeface="Arial"/>
              </a:rPr>
              <a:t>SUPERVISOR: DR. PHILLIP KISEMBE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2e2e4cc544347df"/>
          <a:srcRect xmlns:a="http://schemas.openxmlformats.org/drawingml/2006/main" l="1214" t="0" r="1214" b="0"/>
          <a:stretch xmlns:a="http://schemas.openxmlformats.org/drawingml/2006/main">
            <a:fillRect l="0" t="0" r="0" b="0"/>
          </a:stretch>
        </p:blipFill>
        <p:spPr>
          <a:xfrm xmlns:a="http://schemas.openxmlformats.org/drawingml/2006/main">
            <a:off x="8143875" y="819150"/>
            <a:ext cx="3143250" cy="4953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78799C2-FA3A-4E64-9BA8-D4A88F2F5238}"/>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1</a:t>
            </a:r>
          </a:p>
        </p:txBody>
      </p:sp>
    </p:spTree>
    <p:extLst>
      <p:ext uri="{BB962C8B-B14F-4D97-AF65-F5344CB8AC3E}">
        <p14:creationId xmlns:p14="http://schemas.microsoft.com/office/powerpoint/2010/main" val="6121291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7C9A06-A90F-4DE0-AA82-CEF1B29E81FF}"/>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Project problem</a:t>
            </a:r>
          </a:p>
        </p:txBody>
      </p:sp>
      <p:sp>
        <p:nvSpPr>
          <p:cNvPr id="2" name="">
            <a:extLst xmlns:a="http://schemas.openxmlformats.org/drawingml/2006/main">
              <a:ext uri="{FF2B5EF4-FFF2-40B4-BE49-F238E27FC236}">
                <a16:creationId xmlns:a16="http://schemas.microsoft.com/office/drawing/2014/main" id="{11F04E70-8A31-4384-BFA3-9EA9463B7AED}"/>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Fixed-time traffic lights cannot react to changing demand</a:t>
            </a:r>
          </a:p>
        </p:txBody>
      </p:sp>
      <p:sp>
        <p:nvSpPr>
          <p:cNvPr id="3" name="">
            <a:extLst xmlns:a="http://schemas.openxmlformats.org/drawingml/2006/main">
              <a:ext uri="{FF2B5EF4-FFF2-40B4-BE49-F238E27FC236}">
                <a16:creationId xmlns:a16="http://schemas.microsoft.com/office/drawing/2014/main" id="{611647AA-E698-4097-9A04-ADEA98996F53}"/>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sp>
        <p:nvSpPr>
          <p:cNvPr id="4" name="">
            <a:extLst xmlns:a="http://schemas.openxmlformats.org/drawingml/2006/main">
              <a:ext uri="{FF2B5EF4-FFF2-40B4-BE49-F238E27FC236}">
                <a16:creationId xmlns:a16="http://schemas.microsoft.com/office/drawing/2014/main" id="{3F064490-17DE-4679-86A4-F557DD1CCBFF}"/>
              </a:ext>
            </a:extLst>
          </p:cNvPr>
          <p:cNvSpPr>
            <a:spLocks xmlns:a="http://schemas.openxmlformats.org/drawingml/2006/main" noGrp="1"/>
          </p:cNvSpPr>
          <p:nvPr/>
        </p:nvSpPr>
        <p:spPr>
          <a:xfrm xmlns:a="http://schemas.openxmlformats.org/drawingml/2006/main">
            <a:off x="800100" y="1714500"/>
            <a:ext cx="6191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 fixed cycle may serve an empty approach while vehicles wait elsewhere.</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Adaptive timing can allocate longer green time to the busier movement.</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Any timing improvement must preserve amber and all-red clearance.</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project evaluates the algorithm with repeatable simulation data.</a:t>
            </a:r>
          </a:p>
        </p:txBody>
      </p:sp>
      <p:sp>
        <p:nvSpPr>
          <p:cNvPr id="5" name="">
            <a:extLst xmlns:a="http://schemas.openxmlformats.org/drawingml/2006/main">
              <a:ext uri="{FF2B5EF4-FFF2-40B4-BE49-F238E27FC236}">
                <a16:creationId xmlns:a16="http://schemas.microsoft.com/office/drawing/2014/main" id="{55260B71-39A4-4CCD-8BD2-F219CF137707}"/>
              </a:ext>
            </a:extLst>
          </p:cNvPr>
          <p:cNvSpPr>
            <a:spLocks xmlns:a="http://schemas.openxmlformats.org/drawingml/2006/main" noGrp="1"/>
          </p:cNvSpPr>
          <p:nvPr/>
        </p:nvSpPr>
        <p:spPr>
          <a:xfrm xmlns:a="http://schemas.openxmlformats.org/drawingml/2006/main">
            <a:off x="7810500" y="18669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6FEB"/>
                </a:solidFill>
                <a:latin typeface="Arial"/>
                <a:ea typeface="Arial"/>
                <a:cs typeface="Arial"/>
              </a:defRPr>
            </a:pPr>
            <a:r>
              <a:rPr sz="2550" b="1">
                <a:solidFill>
                  <a:srgbClr val="1F6FEB"/>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7782B456-4AE6-4E3E-AC65-D2B0CE7A3E43}"/>
              </a:ext>
            </a:extLst>
          </p:cNvPr>
          <p:cNvSpPr>
            <a:spLocks xmlns:a="http://schemas.openxmlformats.org/drawingml/2006/main" noGrp="1"/>
          </p:cNvSpPr>
          <p:nvPr/>
        </p:nvSpPr>
        <p:spPr>
          <a:xfrm xmlns:a="http://schemas.openxmlformats.org/drawingml/2006/main">
            <a:off x="7810500" y="24193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benchmark scenarios</a:t>
            </a:r>
          </a:p>
        </p:txBody>
      </p:sp>
      <p:sp>
        <p:nvSpPr>
          <p:cNvPr id="7" name="">
            <a:extLst xmlns:a="http://schemas.openxmlformats.org/drawingml/2006/main">
              <a:ext uri="{FF2B5EF4-FFF2-40B4-BE49-F238E27FC236}">
                <a16:creationId xmlns:a16="http://schemas.microsoft.com/office/drawing/2014/main" id="{CBD7E109-EDC0-4BF8-940F-4E252DD46C34}"/>
              </a:ext>
            </a:extLst>
          </p:cNvPr>
          <p:cNvSpPr>
            <a:spLocks xmlns:a="http://schemas.openxmlformats.org/drawingml/2006/main" noGrp="1"/>
          </p:cNvSpPr>
          <p:nvPr/>
        </p:nvSpPr>
        <p:spPr>
          <a:xfrm xmlns:a="http://schemas.openxmlformats.org/drawingml/2006/main">
            <a:off x="7810500" y="3143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2426A295-7D3C-4017-BF02-46F2FFE9B369}"/>
              </a:ext>
            </a:extLst>
          </p:cNvPr>
          <p:cNvSpPr>
            <a:spLocks xmlns:a="http://schemas.openxmlformats.org/drawingml/2006/main" noGrp="1"/>
          </p:cNvSpPr>
          <p:nvPr/>
        </p:nvSpPr>
        <p:spPr>
          <a:xfrm xmlns:a="http://schemas.openxmlformats.org/drawingml/2006/main">
            <a:off x="7810500" y="3695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random seeds</a:t>
            </a:r>
          </a:p>
        </p:txBody>
      </p:sp>
      <p:sp>
        <p:nvSpPr>
          <p:cNvPr id="9" name="">
            <a:extLst xmlns:a="http://schemas.openxmlformats.org/drawingml/2006/main">
              <a:ext uri="{FF2B5EF4-FFF2-40B4-BE49-F238E27FC236}">
                <a16:creationId xmlns:a16="http://schemas.microsoft.com/office/drawing/2014/main" id="{60434E75-6AD4-4F95-9E68-D5969DD9DBB5}"/>
              </a:ext>
            </a:extLst>
          </p:cNvPr>
          <p:cNvSpPr>
            <a:spLocks xmlns:a="http://schemas.openxmlformats.org/drawingml/2006/main" noGrp="1"/>
          </p:cNvSpPr>
          <p:nvPr/>
        </p:nvSpPr>
        <p:spPr>
          <a:xfrm xmlns:a="http://schemas.openxmlformats.org/drawingml/2006/main">
            <a:off x="7810500" y="4419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C73E3A"/>
                </a:solidFill>
                <a:latin typeface="Arial"/>
                <a:ea typeface="Arial"/>
                <a:cs typeface="Arial"/>
              </a:defRPr>
            </a:pPr>
            <a:r>
              <a:rPr sz="2550" b="1">
                <a:solidFill>
                  <a:srgbClr val="C73E3A"/>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7E0576EF-626C-4186-A50D-8CD6C1ED7289}"/>
              </a:ext>
            </a:extLst>
          </p:cNvPr>
          <p:cNvSpPr>
            <a:spLocks xmlns:a="http://schemas.openxmlformats.org/drawingml/2006/main" noGrp="1"/>
          </p:cNvSpPr>
          <p:nvPr/>
        </p:nvSpPr>
        <p:spPr>
          <a:xfrm xmlns:a="http://schemas.openxmlformats.org/drawingml/2006/main">
            <a:off x="7810500" y="49720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hardware required</a:t>
            </a:r>
          </a:p>
        </p:txBody>
      </p:sp>
      <p:sp>
        <p:nvSpPr>
          <p:cNvPr id="11" name="">
            <a:extLst xmlns:a="http://schemas.openxmlformats.org/drawingml/2006/main">
              <a:ext uri="{FF2B5EF4-FFF2-40B4-BE49-F238E27FC236}">
                <a16:creationId xmlns:a16="http://schemas.microsoft.com/office/drawing/2014/main" id="{34114347-BEBC-469F-9B0C-37F4CFE0C4F2}"/>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2</a:t>
            </a:r>
          </a:p>
        </p:txBody>
      </p:sp>
    </p:spTree>
    <p:extLst>
      <p:ext uri="{BB962C8B-B14F-4D97-AF65-F5344CB8AC3E}">
        <p14:creationId xmlns:p14="http://schemas.microsoft.com/office/powerpoint/2010/main" val="16642830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6EA89F-8413-449A-806F-F0BCDBEC0710}"/>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Engineering contribution</a:t>
            </a:r>
          </a:p>
        </p:txBody>
      </p:sp>
      <p:sp>
        <p:nvSpPr>
          <p:cNvPr id="2" name="">
            <a:extLst xmlns:a="http://schemas.openxmlformats.org/drawingml/2006/main">
              <a:ext uri="{FF2B5EF4-FFF2-40B4-BE49-F238E27FC236}">
                <a16:creationId xmlns:a16="http://schemas.microsoft.com/office/drawing/2014/main" id="{C965D8B1-2C6B-419F-AA10-A369B7884168}"/>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The value is the implemented and tested control system</a:t>
            </a:r>
          </a:p>
        </p:txBody>
      </p:sp>
      <p:sp>
        <p:nvSpPr>
          <p:cNvPr id="3" name="">
            <a:extLst xmlns:a="http://schemas.openxmlformats.org/drawingml/2006/main">
              <a:ext uri="{FF2B5EF4-FFF2-40B4-BE49-F238E27FC236}">
                <a16:creationId xmlns:a16="http://schemas.microsoft.com/office/drawing/2014/main" id="{F2851D37-1A44-4F34-8FA4-607EEC521AB7}"/>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sp>
        <p:nvSpPr>
          <p:cNvPr id="4" name="">
            <a:extLst xmlns:a="http://schemas.openxmlformats.org/drawingml/2006/main">
              <a:ext uri="{FF2B5EF4-FFF2-40B4-BE49-F238E27FC236}">
                <a16:creationId xmlns:a16="http://schemas.microsoft.com/office/drawing/2014/main" id="{61781FD5-3C5F-4EA2-8092-03A1A90402F4}"/>
              </a:ext>
            </a:extLst>
          </p:cNvPr>
          <p:cNvSpPr>
            <a:spLocks xmlns:a="http://schemas.openxmlformats.org/drawingml/2006/main" noGrp="1"/>
          </p:cNvSpPr>
          <p:nvPr/>
        </p:nvSpPr>
        <p:spPr>
          <a:xfrm xmlns:a="http://schemas.openxmlformats.org/drawingml/2006/main">
            <a:off x="800100" y="1581150"/>
            <a:ext cx="7239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This project does not claim adaptive traffic lights are new.</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implements both fixed-time and adaptive controllers for fair comparison.</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uses repeatable scenarios and seeds instead of one-off demonstration runs.</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separates true queue values from detector values seen by the controller.</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It produces tests, CSV results, charts, screenshots, and a presentation deck.</a:t>
            </a:r>
          </a:p>
        </p:txBody>
      </p:sp>
      <p:sp>
        <p:nvSpPr>
          <p:cNvPr id="5" name="">
            <a:extLst xmlns:a="http://schemas.openxmlformats.org/drawingml/2006/main">
              <a:ext uri="{FF2B5EF4-FFF2-40B4-BE49-F238E27FC236}">
                <a16:creationId xmlns:a16="http://schemas.microsoft.com/office/drawing/2014/main" id="{F63972B0-5C41-4BC5-9808-737B7BD7F83E}"/>
              </a:ext>
            </a:extLst>
          </p:cNvPr>
          <p:cNvSpPr>
            <a:spLocks xmlns:a="http://schemas.openxmlformats.org/drawingml/2006/main" noGrp="1"/>
          </p:cNvSpPr>
          <p:nvPr/>
        </p:nvSpPr>
        <p:spPr>
          <a:xfrm xmlns:a="http://schemas.openxmlformats.org/drawingml/2006/main">
            <a:off x="8763000" y="1809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6FEB"/>
                </a:solidFill>
                <a:latin typeface="Arial"/>
                <a:ea typeface="Arial"/>
                <a:cs typeface="Arial"/>
              </a:defRPr>
            </a:pPr>
            <a:r>
              <a:rPr sz="2550" b="1">
                <a:solidFill>
                  <a:srgbClr val="1F6FEB"/>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24E5EEF6-2FE7-4F09-8819-148A218D93D9}"/>
              </a:ext>
            </a:extLst>
          </p:cNvPr>
          <p:cNvSpPr>
            <a:spLocks xmlns:a="http://schemas.openxmlformats.org/drawingml/2006/main" noGrp="1"/>
          </p:cNvSpPr>
          <p:nvPr/>
        </p:nvSpPr>
        <p:spPr>
          <a:xfrm xmlns:a="http://schemas.openxmlformats.org/drawingml/2006/main">
            <a:off x="8763000" y="2362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pytest checks</a:t>
            </a:r>
          </a:p>
        </p:txBody>
      </p:sp>
      <p:sp>
        <p:nvSpPr>
          <p:cNvPr id="7" name="">
            <a:extLst xmlns:a="http://schemas.openxmlformats.org/drawingml/2006/main">
              <a:ext uri="{FF2B5EF4-FFF2-40B4-BE49-F238E27FC236}">
                <a16:creationId xmlns:a16="http://schemas.microsoft.com/office/drawing/2014/main" id="{DF478462-88B3-4DB0-B123-53E59853D9A2}"/>
              </a:ext>
            </a:extLst>
          </p:cNvPr>
          <p:cNvSpPr>
            <a:spLocks xmlns:a="http://schemas.openxmlformats.org/drawingml/2006/main" noGrp="1"/>
          </p:cNvSpPr>
          <p:nvPr/>
        </p:nvSpPr>
        <p:spPr>
          <a:xfrm xmlns:a="http://schemas.openxmlformats.org/drawingml/2006/main">
            <a:off x="8763000" y="3143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10</a:t>
            </a:r>
          </a:p>
        </p:txBody>
      </p:sp>
      <p:sp>
        <p:nvSpPr>
          <p:cNvPr id="8" name="">
            <a:extLst xmlns:a="http://schemas.openxmlformats.org/drawingml/2006/main">
              <a:ext uri="{FF2B5EF4-FFF2-40B4-BE49-F238E27FC236}">
                <a16:creationId xmlns:a16="http://schemas.microsoft.com/office/drawing/2014/main" id="{993E41A9-F896-421E-AEA9-CABF8139D6C4}"/>
              </a:ext>
            </a:extLst>
          </p:cNvPr>
          <p:cNvSpPr>
            <a:spLocks xmlns:a="http://schemas.openxmlformats.org/drawingml/2006/main" noGrp="1"/>
          </p:cNvSpPr>
          <p:nvPr/>
        </p:nvSpPr>
        <p:spPr>
          <a:xfrm xmlns:a="http://schemas.openxmlformats.org/drawingml/2006/main">
            <a:off x="8763000" y="3695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benchmark seeds</a:t>
            </a:r>
          </a:p>
        </p:txBody>
      </p:sp>
      <p:sp>
        <p:nvSpPr>
          <p:cNvPr id="9" name="">
            <a:extLst xmlns:a="http://schemas.openxmlformats.org/drawingml/2006/main">
              <a:ext uri="{FF2B5EF4-FFF2-40B4-BE49-F238E27FC236}">
                <a16:creationId xmlns:a16="http://schemas.microsoft.com/office/drawing/2014/main" id="{593A8C29-DB8E-4549-9DEE-1274DCFB8A3C}"/>
              </a:ext>
            </a:extLst>
          </p:cNvPr>
          <p:cNvSpPr>
            <a:spLocks xmlns:a="http://schemas.openxmlformats.org/drawingml/2006/main" noGrp="1"/>
          </p:cNvSpPr>
          <p:nvPr/>
        </p:nvSpPr>
        <p:spPr>
          <a:xfrm xmlns:a="http://schemas.openxmlformats.org/drawingml/2006/main">
            <a:off x="8763000" y="4476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779F4A77-E3C0-4774-B2B1-D228DD8A5162}"/>
              </a:ext>
            </a:extLst>
          </p:cNvPr>
          <p:cNvSpPr>
            <a:spLocks xmlns:a="http://schemas.openxmlformats.org/drawingml/2006/main" noGrp="1"/>
          </p:cNvSpPr>
          <p:nvPr/>
        </p:nvSpPr>
        <p:spPr>
          <a:xfrm xmlns:a="http://schemas.openxmlformats.org/drawingml/2006/main">
            <a:off x="8763000" y="5029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conflict target</a:t>
            </a:r>
          </a:p>
        </p:txBody>
      </p:sp>
      <p:sp>
        <p:nvSpPr>
          <p:cNvPr id="11" name="">
            <a:extLst xmlns:a="http://schemas.openxmlformats.org/drawingml/2006/main">
              <a:ext uri="{FF2B5EF4-FFF2-40B4-BE49-F238E27FC236}">
                <a16:creationId xmlns:a16="http://schemas.microsoft.com/office/drawing/2014/main" id="{34F23A64-B4C3-48D6-B24D-6ACA590D6D09}"/>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3</a:t>
            </a:r>
          </a:p>
        </p:txBody>
      </p:sp>
    </p:spTree>
    <p:extLst>
      <p:ext uri="{BB962C8B-B14F-4D97-AF65-F5344CB8AC3E}">
        <p14:creationId xmlns:p14="http://schemas.microsoft.com/office/powerpoint/2010/main" val="10692356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27C0B8-C06D-451D-8BE1-6B87746FF14F}"/>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Simulation boundary</a:t>
            </a:r>
          </a:p>
        </p:txBody>
      </p:sp>
      <p:sp>
        <p:nvSpPr>
          <p:cNvPr id="2" name="">
            <a:extLst xmlns:a="http://schemas.openxmlformats.org/drawingml/2006/main">
              <a:ext uri="{FF2B5EF4-FFF2-40B4-BE49-F238E27FC236}">
                <a16:creationId xmlns:a16="http://schemas.microsoft.com/office/drawing/2014/main" id="{DE47410F-00FF-4E3F-A1EE-832096390E54}"/>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Virtual detectors replace physical sensing in the approved scope</a:t>
            </a:r>
          </a:p>
        </p:txBody>
      </p:sp>
      <p:sp>
        <p:nvSpPr>
          <p:cNvPr id="3" name="">
            <a:extLst xmlns:a="http://schemas.openxmlformats.org/drawingml/2006/main">
              <a:ext uri="{FF2B5EF4-FFF2-40B4-BE49-F238E27FC236}">
                <a16:creationId xmlns:a16="http://schemas.microsoft.com/office/drawing/2014/main" id="{E60C1686-5709-4AF4-A1AD-DEF3BB2F4E89}"/>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graphicFrame>
        <p:nvGraphicFramePr>
          <p:cNvPr id="9" name=""/>
          <p:cNvGraphicFramePr/>
          <p:nvPr/>
        </p:nvGraphicFramePr>
        <p:xfrm>
          <a:off xmlns:a="http://schemas.openxmlformats.org/drawingml/2006/main" x="819150" y="1504950"/>
          <a:ext xmlns:a="http://schemas.openxmlformats.org/drawingml/2006/main" cx="9334500" cy="3619500"/>
        </p:xfrm>
        <a:graphic xmlns:a="http://schemas.openxmlformats.org/drawingml/2006/main">
          <a:graphicData uri="http://schemas.openxmlformats.org/drawingml/2006/table">
            <a:tbl>
              <a:tblPr firstRow="1" bandRow="1"/>
              <a:tblGrid>
                <a:gridCol w="4476750"/>
                <a:gridCol w="4857750"/>
              </a:tblGrid>
              <a:tr h="517071">
                <a:tc>
                  <a:txBody>
                    <a:bodyPr>
                      <a:noAutofit/>
                    </a:bodyPr>
                    <a:lstStyle/>
                    <a:p>
                      <a:r>
                        <a:rPr sz="975" b="1">
                          <a:solidFill>
                            <a:srgbClr val="FFFFFF"/>
                          </a:solidFill>
                          <a:latin typeface="Arial"/>
                          <a:ea typeface="Arial"/>
                          <a:cs typeface="Arial"/>
                        </a:rPr>
                        <a:t>Included or abstracted</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Outside current physical scope</a:t>
                      </a:r>
                    </a:p>
                  </a:txBody>
                  <a:tcPr marL="91440" marR="91440" marT="45720" marB="45720">
                    <a:solidFill>
                      <a:srgbClr val="404852"/>
                    </a:solidFill>
                  </a:tcPr>
                </a:tc>
              </a:tr>
              <a:tr h="517071">
                <a:tc>
                  <a:txBody>
                    <a:bodyPr>
                      <a:noAutofit/>
                    </a:bodyPr>
                    <a:lstStyle/>
                    <a:p>
                      <a:r>
                        <a:rPr sz="900">
                          <a:solidFill>
                            <a:srgbClr val="17202A"/>
                          </a:solidFill>
                          <a:latin typeface="Arial"/>
                          <a:ea typeface="Arial"/>
                          <a:cs typeface="Arial"/>
                        </a:rPr>
                        <a:t>Virtual detector demand from simulated queues</a:t>
                      </a:r>
                    </a:p>
                  </a:txBody>
                  <a:tcPr marL="91440" marR="91440" marT="45720" marB="45720"/>
                </a:tc>
                <a:tc>
                  <a:txBody>
                    <a:bodyPr>
                      <a:noAutofit/>
                    </a:bodyPr>
                    <a:lstStyle/>
                    <a:p>
                      <a:r>
                        <a:rPr sz="900">
                          <a:solidFill>
                            <a:srgbClr val="17202A"/>
                          </a:solidFill>
                          <a:latin typeface="Arial"/>
                          <a:ea typeface="Arial"/>
                          <a:cs typeface="Arial"/>
                        </a:rPr>
                        <a:t>Camera, ultrasonic, loop, or GPIO hardware</a:t>
                      </a:r>
                    </a:p>
                  </a:txBody>
                  <a:tcPr marL="91440" marR="91440" marT="45720" marB="45720"/>
                </a:tc>
              </a:tr>
              <a:tr h="517071">
                <a:tc>
                  <a:txBody>
                    <a:bodyPr>
                      <a:noAutofit/>
                    </a:bodyPr>
                    <a:lstStyle/>
                    <a:p>
                      <a:r>
                        <a:rPr sz="900">
                          <a:solidFill>
                            <a:srgbClr val="17202A"/>
                          </a:solidFill>
                          <a:latin typeface="Arial"/>
                          <a:ea typeface="Arial"/>
                          <a:cs typeface="Arial"/>
                        </a:rPr>
                        <a:t>Stuck-high and stuck-low detector faults</a:t>
                      </a:r>
                    </a:p>
                  </a:txBody>
                  <a:tcPr marL="91440" marR="91440" marT="45720" marB="45720"/>
                </a:tc>
                <a:tc>
                  <a:txBody>
                    <a:bodyPr>
                      <a:noAutofit/>
                    </a:bodyPr>
                    <a:lstStyle/>
                    <a:p>
                      <a:r>
                        <a:rPr sz="900">
                          <a:solidFill>
                            <a:srgbClr val="17202A"/>
                          </a:solidFill>
                          <a:latin typeface="Arial"/>
                          <a:ea typeface="Arial"/>
                          <a:cs typeface="Arial"/>
                        </a:rPr>
                        <a:t>Real sensor calibration and electronics</a:t>
                      </a:r>
                    </a:p>
                  </a:txBody>
                  <a:tcPr marL="91440" marR="91440" marT="45720" marB="45720"/>
                </a:tc>
              </a:tr>
              <a:tr h="517071">
                <a:tc>
                  <a:txBody>
                    <a:bodyPr>
                      <a:noAutofit/>
                    </a:bodyPr>
                    <a:lstStyle/>
                    <a:p>
                      <a:r>
                        <a:rPr sz="900">
                          <a:solidFill>
                            <a:srgbClr val="17202A"/>
                          </a:solidFill>
                          <a:latin typeface="Arial"/>
                          <a:ea typeface="Arial"/>
                          <a:cs typeface="Arial"/>
                        </a:rPr>
                        <a:t>Rain, darkness, glare, and dirt as detector-error causes</a:t>
                      </a:r>
                    </a:p>
                  </a:txBody>
                  <a:tcPr marL="91440" marR="91440" marT="45720" marB="45720"/>
                </a:tc>
                <a:tc>
                  <a:txBody>
                    <a:bodyPr>
                      <a:noAutofit/>
                    </a:bodyPr>
                    <a:lstStyle/>
                    <a:p>
                      <a:r>
                        <a:rPr sz="900">
                          <a:solidFill>
                            <a:srgbClr val="17202A"/>
                          </a:solidFill>
                          <a:latin typeface="Arial"/>
                          <a:ea typeface="Arial"/>
                          <a:cs typeface="Arial"/>
                        </a:rPr>
                        <a:t>Image quality or night-vision modelling</a:t>
                      </a:r>
                    </a:p>
                  </a:txBody>
                  <a:tcPr marL="91440" marR="91440" marT="45720" marB="45720"/>
                </a:tc>
              </a:tr>
              <a:tr h="517071">
                <a:tc>
                  <a:txBody>
                    <a:bodyPr>
                      <a:noAutofit/>
                    </a:bodyPr>
                    <a:lstStyle/>
                    <a:p>
                      <a:r>
                        <a:rPr sz="900">
                          <a:solidFill>
                            <a:srgbClr val="17202A"/>
                          </a:solidFill>
                          <a:latin typeface="Arial"/>
                          <a:ea typeface="Arial"/>
                          <a:cs typeface="Arial"/>
                        </a:rPr>
                        <a:t>Unequal, burst, and changing traffic demand</a:t>
                      </a:r>
                    </a:p>
                  </a:txBody>
                  <a:tcPr marL="91440" marR="91440" marT="45720" marB="45720"/>
                </a:tc>
                <a:tc>
                  <a:txBody>
                    <a:bodyPr>
                      <a:noAutofit/>
                    </a:bodyPr>
                    <a:lstStyle/>
                    <a:p>
                      <a:r>
                        <a:rPr sz="900">
                          <a:solidFill>
                            <a:srgbClr val="17202A"/>
                          </a:solidFill>
                          <a:latin typeface="Arial"/>
                          <a:ea typeface="Arial"/>
                          <a:cs typeface="Arial"/>
                        </a:rPr>
                        <a:t>Turning lanes, lane changes, and blocked roads</a:t>
                      </a:r>
                    </a:p>
                  </a:txBody>
                  <a:tcPr marL="91440" marR="91440" marT="45720" marB="45720"/>
                </a:tc>
              </a:tr>
              <a:tr h="517071">
                <a:tc>
                  <a:txBody>
                    <a:bodyPr>
                      <a:noAutofit/>
                    </a:bodyPr>
                    <a:lstStyle/>
                    <a:p>
                      <a:r>
                        <a:rPr sz="900">
                          <a:solidFill>
                            <a:srgbClr val="17202A"/>
                          </a:solidFill>
                          <a:latin typeface="Arial"/>
                          <a:ea typeface="Arial"/>
                          <a:cs typeface="Arial"/>
                        </a:rPr>
                        <a:t>Safe phase machine and all-red clearance</a:t>
                      </a:r>
                    </a:p>
                  </a:txBody>
                  <a:tcPr marL="91440" marR="91440" marT="45720" marB="45720"/>
                </a:tc>
                <a:tc>
                  <a:txBody>
                    <a:bodyPr>
                      <a:noAutofit/>
                    </a:bodyPr>
                    <a:lstStyle/>
                    <a:p>
                      <a:r>
                        <a:rPr sz="900">
                          <a:solidFill>
                            <a:srgbClr val="17202A"/>
                          </a:solidFill>
                          <a:latin typeface="Arial"/>
                          <a:ea typeface="Arial"/>
                          <a:cs typeface="Arial"/>
                        </a:rPr>
                        <a:t>Certified public-road operation</a:t>
                      </a:r>
                    </a:p>
                  </a:txBody>
                  <a:tcPr marL="91440" marR="91440" marT="45720" marB="45720"/>
                </a:tc>
              </a:tr>
              <a:tr h="517071">
                <a:tc>
                  <a:txBody>
                    <a:bodyPr>
                      <a:noAutofit/>
                    </a:bodyPr>
                    <a:lstStyle/>
                    <a:p>
                      <a:r>
                        <a:rPr sz="900">
                          <a:solidFill>
                            <a:srgbClr val="17202A"/>
                          </a:solidFill>
                          <a:latin typeface="Arial"/>
                          <a:ea typeface="Arial"/>
                          <a:cs typeface="Arial"/>
                        </a:rPr>
                        <a:t>Dashboard, logs, CSVs, charts, and tests</a:t>
                      </a:r>
                    </a:p>
                  </a:txBody>
                  <a:tcPr marL="91440" marR="91440" marT="45720" marB="45720"/>
                </a:tc>
                <a:tc>
                  <a:txBody>
                    <a:bodyPr>
                      <a:noAutofit/>
                    </a:bodyPr>
                    <a:lstStyle/>
                    <a:p>
                      <a:r>
                        <a:rPr sz="900">
                          <a:solidFill>
                            <a:srgbClr val="17202A"/>
                          </a:solidFill>
                          <a:latin typeface="Arial"/>
                          <a:ea typeface="Arial"/>
                          <a:cs typeface="Arial"/>
                        </a:rPr>
                        <a:t>Physical roadside deployment</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E6105C1D-438E-49F0-9D34-42142A189B5E}"/>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4</a:t>
            </a:r>
          </a:p>
        </p:txBody>
      </p:sp>
    </p:spTree>
    <p:extLst>
      <p:ext uri="{BB962C8B-B14F-4D97-AF65-F5344CB8AC3E}">
        <p14:creationId xmlns:p14="http://schemas.microsoft.com/office/powerpoint/2010/main" val="12914486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C36C112-125A-4ED6-80EC-94637B520AD5}"/>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Implementation architecture</a:t>
            </a:r>
          </a:p>
        </p:txBody>
      </p:sp>
      <p:sp>
        <p:nvSpPr>
          <p:cNvPr id="2" name="">
            <a:extLst xmlns:a="http://schemas.openxmlformats.org/drawingml/2006/main">
              <a:ext uri="{FF2B5EF4-FFF2-40B4-BE49-F238E27FC236}">
                <a16:creationId xmlns:a16="http://schemas.microsoft.com/office/drawing/2014/main" id="{27814D18-0545-489A-A243-AB8434B0DAE1}"/>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The controller stays separate from simulation, storage, and UI</a:t>
            </a:r>
          </a:p>
        </p:txBody>
      </p:sp>
      <p:sp>
        <p:nvSpPr>
          <p:cNvPr id="3" name="">
            <a:extLst xmlns:a="http://schemas.openxmlformats.org/drawingml/2006/main">
              <a:ext uri="{FF2B5EF4-FFF2-40B4-BE49-F238E27FC236}">
                <a16:creationId xmlns:a16="http://schemas.microsoft.com/office/drawing/2014/main" id="{C860BCC7-10C0-4DAF-8A94-BB0093861962}"/>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graphicFrame>
        <p:nvGraphicFramePr>
          <p:cNvPr id="10" name=""/>
          <p:cNvGraphicFramePr/>
          <p:nvPr/>
        </p:nvGraphicFramePr>
        <p:xfrm>
          <a:off xmlns:a="http://schemas.openxmlformats.org/drawingml/2006/main" x="685800" y="1600200"/>
          <a:ext xmlns:a="http://schemas.openxmlformats.org/drawingml/2006/main" cx="10363200" cy="2971800"/>
        </p:xfrm>
        <a:graphic xmlns:a="http://schemas.openxmlformats.org/drawingml/2006/main">
          <a:graphicData uri="http://schemas.openxmlformats.org/drawingml/2006/table">
            <a:tbl>
              <a:tblPr firstRow="1" bandRow="1"/>
              <a:tblGrid>
                <a:gridCol w="1809750"/>
                <a:gridCol w="4762500"/>
                <a:gridCol w="3790950"/>
              </a:tblGrid>
              <a:tr h="594360">
                <a:tc>
                  <a:txBody>
                    <a:bodyPr>
                      <a:noAutofit/>
                    </a:bodyPr>
                    <a:lstStyle/>
                    <a:p>
                      <a:r>
                        <a:rPr sz="975" b="1">
                          <a:solidFill>
                            <a:srgbClr val="FFFFFF"/>
                          </a:solidFill>
                          <a:latin typeface="Arial"/>
                          <a:ea typeface="Arial"/>
                          <a:cs typeface="Arial"/>
                        </a:rPr>
                        <a:t>Layer</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Purpose</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Main files</a:t>
                      </a:r>
                    </a:p>
                  </a:txBody>
                  <a:tcPr marL="91440" marR="91440" marT="45720" marB="45720">
                    <a:solidFill>
                      <a:srgbClr val="404852"/>
                    </a:solidFill>
                  </a:tcPr>
                </a:tc>
              </a:tr>
              <a:tr h="594360">
                <a:tc>
                  <a:txBody>
                    <a:bodyPr>
                      <a:noAutofit/>
                    </a:bodyPr>
                    <a:lstStyle/>
                    <a:p>
                      <a:r>
                        <a:rPr sz="900">
                          <a:solidFill>
                            <a:srgbClr val="17202A"/>
                          </a:solidFill>
                          <a:latin typeface="Arial"/>
                          <a:ea typeface="Arial"/>
                          <a:cs typeface="Arial"/>
                        </a:rPr>
                        <a:t>Domain</a:t>
                      </a:r>
                    </a:p>
                  </a:txBody>
                  <a:tcPr marL="91440" marR="91440" marT="45720" marB="45720"/>
                </a:tc>
                <a:tc>
                  <a:txBody>
                    <a:bodyPr>
                      <a:noAutofit/>
                    </a:bodyPr>
                    <a:lstStyle/>
                    <a:p>
                      <a:r>
                        <a:rPr sz="900">
                          <a:solidFill>
                            <a:srgbClr val="17202A"/>
                          </a:solidFill>
                          <a:latin typeface="Arial"/>
                          <a:ea typeface="Arial"/>
                          <a:cs typeface="Arial"/>
                        </a:rPr>
                        <a:t>Signal phases, timing, safety checks</a:t>
                      </a:r>
                    </a:p>
                  </a:txBody>
                  <a:tcPr marL="91440" marR="91440" marT="45720" marB="45720"/>
                </a:tc>
                <a:tc>
                  <a:txBody>
                    <a:bodyPr>
                      <a:noAutofit/>
                    </a:bodyPr>
                    <a:lstStyle/>
                    <a:p>
                      <a:r>
                        <a:rPr sz="900">
                          <a:solidFill>
                            <a:srgbClr val="17202A"/>
                          </a:solidFill>
                          <a:latin typeface="Arial"/>
                          <a:ea typeface="Arial"/>
                          <a:cs typeface="Arial"/>
                        </a:rPr>
                        <a:t>src/trafficlight/domain/</a:t>
                      </a:r>
                    </a:p>
                  </a:txBody>
                  <a:tcPr marL="91440" marR="91440" marT="45720" marB="45720"/>
                </a:tc>
              </a:tr>
              <a:tr h="594360">
                <a:tc>
                  <a:txBody>
                    <a:bodyPr>
                      <a:noAutofit/>
                    </a:bodyPr>
                    <a:lstStyle/>
                    <a:p>
                      <a:r>
                        <a:rPr sz="900">
                          <a:solidFill>
                            <a:srgbClr val="17202A"/>
                          </a:solidFill>
                          <a:latin typeface="Arial"/>
                          <a:ea typeface="Arial"/>
                          <a:cs typeface="Arial"/>
                        </a:rPr>
                        <a:t>Simulation</a:t>
                      </a:r>
                    </a:p>
                  </a:txBody>
                  <a:tcPr marL="91440" marR="91440" marT="45720" marB="45720"/>
                </a:tc>
                <a:tc>
                  <a:txBody>
                    <a:bodyPr>
                      <a:noAutofit/>
                    </a:bodyPr>
                    <a:lstStyle/>
                    <a:p>
                      <a:r>
                        <a:rPr sz="900">
                          <a:solidFill>
                            <a:srgbClr val="17202A"/>
                          </a:solidFill>
                          <a:latin typeface="Arial"/>
                          <a:ea typeface="Arial"/>
                          <a:cs typeface="Arial"/>
                        </a:rPr>
                        <a:t>Queues, scenarios, faults, benchmarks</a:t>
                      </a:r>
                    </a:p>
                  </a:txBody>
                  <a:tcPr marL="91440" marR="91440" marT="45720" marB="45720"/>
                </a:tc>
                <a:tc>
                  <a:txBody>
                    <a:bodyPr>
                      <a:noAutofit/>
                    </a:bodyPr>
                    <a:lstStyle/>
                    <a:p>
                      <a:r>
                        <a:rPr sz="900">
                          <a:solidFill>
                            <a:srgbClr val="17202A"/>
                          </a:solidFill>
                          <a:latin typeface="Arial"/>
                          <a:ea typeface="Arial"/>
                          <a:cs typeface="Arial"/>
                        </a:rPr>
                        <a:t>src/trafficlight/simulation/</a:t>
                      </a:r>
                    </a:p>
                  </a:txBody>
                  <a:tcPr marL="91440" marR="91440" marT="45720" marB="45720"/>
                </a:tc>
              </a:tr>
              <a:tr h="594360">
                <a:tc>
                  <a:txBody>
                    <a:bodyPr>
                      <a:noAutofit/>
                    </a:bodyPr>
                    <a:lstStyle/>
                    <a:p>
                      <a:r>
                        <a:rPr sz="900">
                          <a:solidFill>
                            <a:srgbClr val="17202A"/>
                          </a:solidFill>
                          <a:latin typeface="Arial"/>
                          <a:ea typeface="Arial"/>
                          <a:cs typeface="Arial"/>
                        </a:rPr>
                        <a:t>Storage</a:t>
                      </a:r>
                    </a:p>
                  </a:txBody>
                  <a:tcPr marL="91440" marR="91440" marT="45720" marB="45720"/>
                </a:tc>
                <a:tc>
                  <a:txBody>
                    <a:bodyPr>
                      <a:noAutofit/>
                    </a:bodyPr>
                    <a:lstStyle/>
                    <a:p>
                      <a:r>
                        <a:rPr sz="900">
                          <a:solidFill>
                            <a:srgbClr val="17202A"/>
                          </a:solidFill>
                          <a:latin typeface="Arial"/>
                          <a:ea typeface="Arial"/>
                          <a:cs typeface="Arial"/>
                        </a:rPr>
                        <a:t>SQLite run, event, detector, metric logging</a:t>
                      </a:r>
                    </a:p>
                  </a:txBody>
                  <a:tcPr marL="91440" marR="91440" marT="45720" marB="45720"/>
                </a:tc>
                <a:tc>
                  <a:txBody>
                    <a:bodyPr>
                      <a:noAutofit/>
                    </a:bodyPr>
                    <a:lstStyle/>
                    <a:p>
                      <a:r>
                        <a:rPr sz="900">
                          <a:solidFill>
                            <a:srgbClr val="17202A"/>
                          </a:solidFill>
                          <a:latin typeface="Arial"/>
                          <a:ea typeface="Arial"/>
                          <a:cs typeface="Arial"/>
                        </a:rPr>
                        <a:t>src/trafficlight/storage/</a:t>
                      </a:r>
                    </a:p>
                  </a:txBody>
                  <a:tcPr marL="91440" marR="91440" marT="45720" marB="45720"/>
                </a:tc>
              </a:tr>
              <a:tr h="594360">
                <a:tc>
                  <a:txBody>
                    <a:bodyPr>
                      <a:noAutofit/>
                    </a:bodyPr>
                    <a:lstStyle/>
                    <a:p>
                      <a:r>
                        <a:rPr sz="900">
                          <a:solidFill>
                            <a:srgbClr val="17202A"/>
                          </a:solidFill>
                          <a:latin typeface="Arial"/>
                          <a:ea typeface="Arial"/>
                          <a:cs typeface="Arial"/>
                        </a:rPr>
                        <a:t>Interface</a:t>
                      </a:r>
                    </a:p>
                  </a:txBody>
                  <a:tcPr marL="91440" marR="91440" marT="45720" marB="45720"/>
                </a:tc>
                <a:tc>
                  <a:txBody>
                    <a:bodyPr>
                      <a:noAutofit/>
                    </a:bodyPr>
                    <a:lstStyle/>
                    <a:p>
                      <a:r>
                        <a:rPr sz="900">
                          <a:solidFill>
                            <a:srgbClr val="17202A"/>
                          </a:solidFill>
                          <a:latin typeface="Arial"/>
                          <a:ea typeface="Arial"/>
                          <a:cs typeface="Arial"/>
                        </a:rPr>
                        <a:t>CLI, FastAPI, WebSocket dashboard</a:t>
                      </a:r>
                    </a:p>
                  </a:txBody>
                  <a:tcPr marL="91440" marR="91440" marT="45720" marB="45720"/>
                </a:tc>
                <a:tc>
                  <a:txBody>
                    <a:bodyPr>
                      <a:noAutofit/>
                    </a:bodyPr>
                    <a:lstStyle/>
                    <a:p>
                      <a:r>
                        <a:rPr sz="900">
                          <a:solidFill>
                            <a:srgbClr val="17202A"/>
                          </a:solidFill>
                          <a:latin typeface="Arial"/>
                          <a:ea typeface="Arial"/>
                          <a:cs typeface="Arial"/>
                        </a:rPr>
                        <a:t>src/trafficlight/main.py, api/, dashboard/</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7B997BD6-0B3F-47C6-B899-BC26B2B9467D}"/>
              </a:ext>
            </a:extLst>
          </p:cNvPr>
          <p:cNvSpPr>
            <a:spLocks xmlns:a="http://schemas.openxmlformats.org/drawingml/2006/main" noGrp="1"/>
          </p:cNvSpPr>
          <p:nvPr/>
        </p:nvSpPr>
        <p:spPr>
          <a:xfrm xmlns:a="http://schemas.openxmlformats.org/drawingml/2006/main">
            <a:off x="990600" y="510540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1F6FEB"/>
                </a:solidFill>
                <a:latin typeface="Arial"/>
                <a:ea typeface="Arial"/>
                <a:cs typeface="Arial"/>
              </a:defRPr>
            </a:pPr>
            <a:r>
              <a:rPr sz="1425" b="0">
                <a:solidFill>
                  <a:srgbClr val="1F6FEB"/>
                </a:solidFill>
                <a:latin typeface="Arial"/>
                <a:ea typeface="Arial"/>
                <a:cs typeface="Arial"/>
              </a:rPr>
              <a:t>Same controller code is used by the CLI, API, dashboard stream, and benchmark scripts.</a:t>
            </a:r>
          </a:p>
        </p:txBody>
      </p:sp>
      <p:sp>
        <p:nvSpPr>
          <p:cNvPr id="6" name="">
            <a:extLst xmlns:a="http://schemas.openxmlformats.org/drawingml/2006/main">
              <a:ext uri="{FF2B5EF4-FFF2-40B4-BE49-F238E27FC236}">
                <a16:creationId xmlns:a16="http://schemas.microsoft.com/office/drawing/2014/main" id="{345DA0E6-9D07-4431-A89C-D97749252028}"/>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5</a:t>
            </a:r>
          </a:p>
        </p:txBody>
      </p:sp>
    </p:spTree>
    <p:extLst>
      <p:ext uri="{BB962C8B-B14F-4D97-AF65-F5344CB8AC3E}">
        <p14:creationId xmlns:p14="http://schemas.microsoft.com/office/powerpoint/2010/main" val="18576563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5AAB2D-9EA5-435D-BAD1-214B71399ABF}"/>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Controller safety</a:t>
            </a:r>
          </a:p>
        </p:txBody>
      </p:sp>
      <p:sp>
        <p:nvSpPr>
          <p:cNvPr id="2" name="">
            <a:extLst xmlns:a="http://schemas.openxmlformats.org/drawingml/2006/main">
              <a:ext uri="{FF2B5EF4-FFF2-40B4-BE49-F238E27FC236}">
                <a16:creationId xmlns:a16="http://schemas.microsoft.com/office/drawing/2014/main" id="{7FFC1A62-AB63-4A9C-9BB6-2F53D23D1477}"/>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Adaptive timing changes green duration only</a:t>
            </a:r>
          </a:p>
        </p:txBody>
      </p:sp>
      <p:sp>
        <p:nvSpPr>
          <p:cNvPr id="3" name="">
            <a:extLst xmlns:a="http://schemas.openxmlformats.org/drawingml/2006/main">
              <a:ext uri="{FF2B5EF4-FFF2-40B4-BE49-F238E27FC236}">
                <a16:creationId xmlns:a16="http://schemas.microsoft.com/office/drawing/2014/main" id="{0120DE3C-322E-4CB3-9D36-7914A876195B}"/>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9D55"/>
          </a:solidFill>
          <a:ln xmlns:a="http://schemas.openxmlformats.org/drawingml/2006/main" w="0">
            <a:solidFill>
              <a:srgbClr val="1F9D55"/>
            </a:solidFill>
          </a:ln>
        </p:spPr>
      </p:sp>
      <p:sp>
        <p:nvSpPr>
          <p:cNvPr id="4" name="">
            <a:extLst xmlns:a="http://schemas.openxmlformats.org/drawingml/2006/main">
              <a:ext uri="{FF2B5EF4-FFF2-40B4-BE49-F238E27FC236}">
                <a16:creationId xmlns:a16="http://schemas.microsoft.com/office/drawing/2014/main" id="{42120BA4-6C7D-4401-B268-2F0124EE6588}"/>
              </a:ext>
            </a:extLst>
          </p:cNvPr>
          <p:cNvSpPr>
            <a:spLocks xmlns:a="http://schemas.openxmlformats.org/drawingml/2006/main" noGrp="1"/>
          </p:cNvSpPr>
          <p:nvPr/>
        </p:nvSpPr>
        <p:spPr>
          <a:xfrm xmlns:a="http://schemas.openxmlformats.org/drawingml/2006/main">
            <a:off x="914400" y="1638300"/>
            <a:ext cx="361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7202A"/>
                </a:solidFill>
                <a:latin typeface="Arial"/>
                <a:ea typeface="Arial"/>
                <a:cs typeface="Arial"/>
              </a:defRPr>
            </a:pPr>
            <a:r>
              <a:rPr sz="1875" b="1">
                <a:solidFill>
                  <a:srgbClr val="17202A"/>
                </a:solidFill>
                <a:latin typeface="Arial"/>
                <a:ea typeface="Arial"/>
                <a:cs typeface="Arial"/>
              </a:rPr>
              <a:t>Safe phase sequence</a:t>
            </a:r>
          </a:p>
        </p:txBody>
      </p:sp>
      <p:sp>
        <p:nvSpPr>
          <p:cNvPr id="5" name="">
            <a:extLst xmlns:a="http://schemas.openxmlformats.org/drawingml/2006/main">
              <a:ext uri="{FF2B5EF4-FFF2-40B4-BE49-F238E27FC236}">
                <a16:creationId xmlns:a16="http://schemas.microsoft.com/office/drawing/2014/main" id="{0F972370-92D2-4FF3-942D-DBA0FF13567D}"/>
              </a:ext>
            </a:extLst>
          </p:cNvPr>
          <p:cNvSpPr>
            <a:spLocks xmlns:a="http://schemas.openxmlformats.org/drawingml/2006/main" noGrp="1"/>
          </p:cNvSpPr>
          <p:nvPr/>
        </p:nvSpPr>
        <p:spPr>
          <a:xfrm xmlns:a="http://schemas.openxmlformats.org/drawingml/2006/main">
            <a:off x="914400" y="2152650"/>
            <a:ext cx="742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404852"/>
                </a:solidFill>
                <a:latin typeface="Arial"/>
                <a:ea typeface="Arial"/>
                <a:cs typeface="Arial"/>
              </a:defRPr>
            </a:pPr>
            <a:r>
              <a:rPr sz="1800" b="0">
                <a:solidFill>
                  <a:srgbClr val="404852"/>
                </a:solidFill>
                <a:latin typeface="Arial"/>
                <a:ea typeface="Arial"/>
                <a:cs typeface="Arial"/>
              </a:rPr>
              <a:t>all-red, NS green, NS amber, all-red, EW green, EW amber</a:t>
            </a:r>
          </a:p>
        </p:txBody>
      </p:sp>
      <p:sp>
        <p:nvSpPr>
          <p:cNvPr id="6" name="">
            <a:extLst xmlns:a="http://schemas.openxmlformats.org/drawingml/2006/main">
              <a:ext uri="{FF2B5EF4-FFF2-40B4-BE49-F238E27FC236}">
                <a16:creationId xmlns:a16="http://schemas.microsoft.com/office/drawing/2014/main" id="{E0676979-CC33-4E33-A6BD-12749E65D97C}"/>
              </a:ext>
            </a:extLst>
          </p:cNvPr>
          <p:cNvSpPr>
            <a:spLocks xmlns:a="http://schemas.openxmlformats.org/drawingml/2006/main" noGrp="1"/>
          </p:cNvSpPr>
          <p:nvPr/>
        </p:nvSpPr>
        <p:spPr>
          <a:xfrm xmlns:a="http://schemas.openxmlformats.org/drawingml/2006/main">
            <a:off x="933450" y="2952750"/>
            <a:ext cx="685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Fixed and adaptive controllers share the same phase machine.</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Every signal state passes through the conflicting-green safety check.</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Minimum green protects active traffic from instant switching.</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Maximum green prevents one movement from holding green indefinitely.</a:t>
            </a:r>
          </a:p>
        </p:txBody>
      </p:sp>
      <p:sp>
        <p:nvSpPr>
          <p:cNvPr id="7" name="">
            <a:extLst xmlns:a="http://schemas.openxmlformats.org/drawingml/2006/main">
              <a:ext uri="{FF2B5EF4-FFF2-40B4-BE49-F238E27FC236}">
                <a16:creationId xmlns:a16="http://schemas.microsoft.com/office/drawing/2014/main" id="{659EEFE9-08DE-47B1-98E5-F950BF1DA190}"/>
              </a:ext>
            </a:extLst>
          </p:cNvPr>
          <p:cNvSpPr>
            <a:spLocks xmlns:a="http://schemas.openxmlformats.org/drawingml/2006/main" noGrp="1"/>
          </p:cNvSpPr>
          <p:nvPr/>
        </p:nvSpPr>
        <p:spPr>
          <a:xfrm xmlns:a="http://schemas.openxmlformats.org/drawingml/2006/main">
            <a:off x="8382000" y="2571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8499A74A-DCDD-4DB3-BE91-DB8D2B91A30C}"/>
              </a:ext>
            </a:extLst>
          </p:cNvPr>
          <p:cNvSpPr>
            <a:spLocks xmlns:a="http://schemas.openxmlformats.org/drawingml/2006/main" noGrp="1"/>
          </p:cNvSpPr>
          <p:nvPr/>
        </p:nvSpPr>
        <p:spPr>
          <a:xfrm xmlns:a="http://schemas.openxmlformats.org/drawingml/2006/main">
            <a:off x="8382000" y="3124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conflicting-green target</a:t>
            </a:r>
          </a:p>
        </p:txBody>
      </p:sp>
      <p:sp>
        <p:nvSpPr>
          <p:cNvPr id="9" name="">
            <a:extLst xmlns:a="http://schemas.openxmlformats.org/drawingml/2006/main">
              <a:ext uri="{FF2B5EF4-FFF2-40B4-BE49-F238E27FC236}">
                <a16:creationId xmlns:a16="http://schemas.microsoft.com/office/drawing/2014/main" id="{F10213F1-CB6E-4CEB-9850-AF57DDEFA036}"/>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6</a:t>
            </a:r>
          </a:p>
        </p:txBody>
      </p:sp>
    </p:spTree>
    <p:extLst>
      <p:ext uri="{BB962C8B-B14F-4D97-AF65-F5344CB8AC3E}">
        <p14:creationId xmlns:p14="http://schemas.microsoft.com/office/powerpoint/2010/main" val="18746891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489544-4B42-4D39-A7C5-186044F893D4}"/>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Simulation workflow</a:t>
            </a:r>
          </a:p>
        </p:txBody>
      </p:sp>
      <p:sp>
        <p:nvSpPr>
          <p:cNvPr id="2" name="">
            <a:extLst xmlns:a="http://schemas.openxmlformats.org/drawingml/2006/main">
              <a:ext uri="{FF2B5EF4-FFF2-40B4-BE49-F238E27FC236}">
                <a16:creationId xmlns:a16="http://schemas.microsoft.com/office/drawing/2014/main" id="{908DEA00-F656-408F-A797-ADC21924C5B9}"/>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Each run advances the intersection in fixed time steps</a:t>
            </a:r>
          </a:p>
        </p:txBody>
      </p:sp>
      <p:sp>
        <p:nvSpPr>
          <p:cNvPr id="3" name="">
            <a:extLst xmlns:a="http://schemas.openxmlformats.org/drawingml/2006/main">
              <a:ext uri="{FF2B5EF4-FFF2-40B4-BE49-F238E27FC236}">
                <a16:creationId xmlns:a16="http://schemas.microsoft.com/office/drawing/2014/main" id="{CA503899-1ABA-4CD2-9494-4AAB41380DF3}"/>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sp>
        <p:nvSpPr>
          <p:cNvPr id="4" name="">
            <a:extLst xmlns:a="http://schemas.openxmlformats.org/drawingml/2006/main">
              <a:ext uri="{FF2B5EF4-FFF2-40B4-BE49-F238E27FC236}">
                <a16:creationId xmlns:a16="http://schemas.microsoft.com/office/drawing/2014/main" id="{73852193-8629-4134-A859-59985C307E48}"/>
              </a:ext>
            </a:extLst>
          </p:cNvPr>
          <p:cNvSpPr>
            <a:spLocks xmlns:a="http://schemas.openxmlformats.org/drawingml/2006/main" noGrp="1"/>
          </p:cNvSpPr>
          <p:nvPr/>
        </p:nvSpPr>
        <p:spPr>
          <a:xfrm xmlns:a="http://schemas.openxmlformats.org/drawingml/2006/main">
            <a:off x="800100" y="1600200"/>
            <a:ext cx="6191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Sample arrivals from the selected traffic scenario demand rates.</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Create true queue demand for North, East, South, and West.</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Apply detector faults when a fault profile is selected.</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Advance the controller and check for unsafe signal states.</a:t>
            </a:r>
          </a:p>
          <a:p xmlns:a="http://schemas.openxmlformats.org/drawingml/2006/main">
            <a:pPr marL="228600" indent="-101600">
              <a:spcAft>
                <a:spcPts val="900"/>
              </a:spcAft>
              <a:buChar char="•"/>
              <a:defRPr sz="1575">
                <a:solidFill>
                  <a:srgbClr val="17202A"/>
                </a:solidFill>
                <a:latin typeface="Arial"/>
                <a:ea typeface="Arial"/>
                <a:cs typeface="Arial"/>
              </a:defRPr>
            </a:pPr>
            <a:r>
              <a:rPr sz="1575">
                <a:solidFill>
                  <a:srgbClr val="17202A"/>
                </a:solidFill>
                <a:latin typeface="Arial"/>
                <a:ea typeface="Arial"/>
                <a:cs typeface="Arial"/>
              </a:rPr>
              <a:t>Discharge vehicles on green approaches and record metrics.</a:t>
            </a:r>
          </a:p>
        </p:txBody>
      </p:sp>
      <p:sp>
        <p:nvSpPr>
          <p:cNvPr id="5" name="">
            <a:extLst xmlns:a="http://schemas.openxmlformats.org/drawingml/2006/main">
              <a:ext uri="{FF2B5EF4-FFF2-40B4-BE49-F238E27FC236}">
                <a16:creationId xmlns:a16="http://schemas.microsoft.com/office/drawing/2014/main" id="{EB4CA60C-BC04-49D1-B3FA-55644FB26F4A}"/>
              </a:ext>
            </a:extLst>
          </p:cNvPr>
          <p:cNvSpPr>
            <a:spLocks xmlns:a="http://schemas.openxmlformats.org/drawingml/2006/main" noGrp="1"/>
          </p:cNvSpPr>
          <p:nvPr/>
        </p:nvSpPr>
        <p:spPr>
          <a:xfrm xmlns:a="http://schemas.openxmlformats.org/drawingml/2006/main">
            <a:off x="7715250" y="16383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7202A"/>
                </a:solidFill>
                <a:latin typeface="Arial"/>
                <a:ea typeface="Arial"/>
                <a:cs typeface="Arial"/>
              </a:defRPr>
            </a:pPr>
            <a:r>
              <a:rPr sz="1800" b="1">
                <a:solidFill>
                  <a:srgbClr val="17202A"/>
                </a:solidFill>
                <a:latin typeface="Arial"/>
                <a:ea typeface="Arial"/>
                <a:cs typeface="Arial"/>
              </a:rPr>
              <a:t>Experiment settings</a:t>
            </a:r>
          </a:p>
        </p:txBody>
      </p:sp>
      <p:graphicFrame>
        <p:nvGraphicFramePr>
          <p:cNvPr id="13" name=""/>
          <p:cNvGraphicFramePr/>
          <p:nvPr/>
        </p:nvGraphicFramePr>
        <p:xfrm>
          <a:off xmlns:a="http://schemas.openxmlformats.org/drawingml/2006/main" x="7715250" y="2133600"/>
          <a:ext xmlns:a="http://schemas.openxmlformats.org/drawingml/2006/main" cx="3048000" cy="2000250"/>
        </p:xfrm>
        <a:graphic xmlns:a="http://schemas.openxmlformats.org/drawingml/2006/main">
          <a:graphicData uri="http://schemas.openxmlformats.org/drawingml/2006/table">
            <a:tbl>
              <a:tblPr firstRow="1" bandRow="1"/>
              <a:tblGrid>
                <a:gridCol w="1524000"/>
                <a:gridCol w="1524000"/>
              </a:tblGrid>
              <a:tr h="400050">
                <a:tc>
                  <a:txBody>
                    <a:bodyPr>
                      <a:noAutofit/>
                    </a:bodyPr>
                    <a:lstStyle/>
                    <a:p>
                      <a:r>
                        <a:rPr sz="975" b="1">
                          <a:solidFill>
                            <a:srgbClr val="FFFFFF"/>
                          </a:solidFill>
                          <a:latin typeface="Arial"/>
                          <a:ea typeface="Arial"/>
                          <a:cs typeface="Arial"/>
                        </a:rPr>
                        <a:t>Setting</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Value</a:t>
                      </a:r>
                    </a:p>
                  </a:txBody>
                  <a:tcPr marL="91440" marR="91440" marT="45720" marB="45720">
                    <a:solidFill>
                      <a:srgbClr val="404852"/>
                    </a:solidFill>
                  </a:tcPr>
                </a:tc>
              </a:tr>
              <a:tr h="400050">
                <a:tc>
                  <a:txBody>
                    <a:bodyPr>
                      <a:noAutofit/>
                    </a:bodyPr>
                    <a:lstStyle/>
                    <a:p>
                      <a:r>
                        <a:rPr sz="900">
                          <a:solidFill>
                            <a:srgbClr val="17202A"/>
                          </a:solidFill>
                          <a:latin typeface="Arial"/>
                          <a:ea typeface="Arial"/>
                          <a:cs typeface="Arial"/>
                        </a:rPr>
                        <a:t>Duration</a:t>
                      </a:r>
                    </a:p>
                  </a:txBody>
                  <a:tcPr marL="91440" marR="91440" marT="45720" marB="45720"/>
                </a:tc>
                <a:tc>
                  <a:txBody>
                    <a:bodyPr>
                      <a:noAutofit/>
                    </a:bodyPr>
                    <a:lstStyle/>
                    <a:p>
                      <a:r>
                        <a:rPr sz="900">
                          <a:solidFill>
                            <a:srgbClr val="17202A"/>
                          </a:solidFill>
                          <a:latin typeface="Arial"/>
                          <a:ea typeface="Arial"/>
                          <a:cs typeface="Arial"/>
                        </a:rPr>
                        <a:t>300 s</a:t>
                      </a:r>
                    </a:p>
                  </a:txBody>
                  <a:tcPr marL="91440" marR="91440" marT="45720" marB="45720"/>
                </a:tc>
              </a:tr>
              <a:tr h="400050">
                <a:tc>
                  <a:txBody>
                    <a:bodyPr>
                      <a:noAutofit/>
                    </a:bodyPr>
                    <a:lstStyle/>
                    <a:p>
                      <a:r>
                        <a:rPr sz="900">
                          <a:solidFill>
                            <a:srgbClr val="17202A"/>
                          </a:solidFill>
                          <a:latin typeface="Arial"/>
                          <a:ea typeface="Arial"/>
                          <a:cs typeface="Arial"/>
                        </a:rPr>
                        <a:t>Step</a:t>
                      </a:r>
                    </a:p>
                  </a:txBody>
                  <a:tcPr marL="91440" marR="91440" marT="45720" marB="45720"/>
                </a:tc>
                <a:tc>
                  <a:txBody>
                    <a:bodyPr>
                      <a:noAutofit/>
                    </a:bodyPr>
                    <a:lstStyle/>
                    <a:p>
                      <a:r>
                        <a:rPr sz="900">
                          <a:solidFill>
                            <a:srgbClr val="17202A"/>
                          </a:solidFill>
                          <a:latin typeface="Arial"/>
                          <a:ea typeface="Arial"/>
                          <a:cs typeface="Arial"/>
                        </a:rPr>
                        <a:t>0.5 s</a:t>
                      </a:r>
                    </a:p>
                  </a:txBody>
                  <a:tcPr marL="91440" marR="91440" marT="45720" marB="45720"/>
                </a:tc>
              </a:tr>
              <a:tr h="400050">
                <a:tc>
                  <a:txBody>
                    <a:bodyPr>
                      <a:noAutofit/>
                    </a:bodyPr>
                    <a:lstStyle/>
                    <a:p>
                      <a:r>
                        <a:rPr sz="900">
                          <a:solidFill>
                            <a:srgbClr val="17202A"/>
                          </a:solidFill>
                          <a:latin typeface="Arial"/>
                          <a:ea typeface="Arial"/>
                          <a:cs typeface="Arial"/>
                        </a:rPr>
                        <a:t>Seeds</a:t>
                      </a:r>
                    </a:p>
                  </a:txBody>
                  <a:tcPr marL="91440" marR="91440" marT="45720" marB="45720"/>
                </a:tc>
                <a:tc>
                  <a:txBody>
                    <a:bodyPr>
                      <a:noAutofit/>
                    </a:bodyPr>
                    <a:lstStyle/>
                    <a:p>
                      <a:r>
                        <a:rPr sz="900">
                          <a:solidFill>
                            <a:srgbClr val="17202A"/>
                          </a:solidFill>
                          <a:latin typeface="Arial"/>
                          <a:ea typeface="Arial"/>
                          <a:cs typeface="Arial"/>
                        </a:rPr>
                        <a:t>1 to 10</a:t>
                      </a:r>
                    </a:p>
                  </a:txBody>
                  <a:tcPr marL="91440" marR="91440" marT="45720" marB="45720"/>
                </a:tc>
              </a:tr>
              <a:tr h="400050">
                <a:tc>
                  <a:txBody>
                    <a:bodyPr>
                      <a:noAutofit/>
                    </a:bodyPr>
                    <a:lstStyle/>
                    <a:p>
                      <a:r>
                        <a:rPr sz="900">
                          <a:solidFill>
                            <a:srgbClr val="17202A"/>
                          </a:solidFill>
                          <a:latin typeface="Arial"/>
                          <a:ea typeface="Arial"/>
                          <a:cs typeface="Arial"/>
                        </a:rPr>
                        <a:t>Scenarios</a:t>
                      </a:r>
                    </a:p>
                  </a:txBody>
                  <a:tcPr marL="91440" marR="91440" marT="45720" marB="45720"/>
                </a:tc>
                <a:tc>
                  <a:txBody>
                    <a:bodyPr>
                      <a:noAutofit/>
                    </a:bodyPr>
                    <a:lstStyle/>
                    <a:p>
                      <a:r>
                        <a:rPr sz="900">
                          <a:solidFill>
                            <a:srgbClr val="17202A"/>
                          </a:solidFill>
                          <a:latin typeface="Arial"/>
                          <a:ea typeface="Arial"/>
                          <a:cs typeface="Arial"/>
                        </a:rPr>
                        <a:t>5</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CDBF833A-DC38-416E-ABAA-F9F66C42BFB3}"/>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7</a:t>
            </a:r>
          </a:p>
        </p:txBody>
      </p:sp>
    </p:spTree>
    <p:extLst>
      <p:ext uri="{BB962C8B-B14F-4D97-AF65-F5344CB8AC3E}">
        <p14:creationId xmlns:p14="http://schemas.microsoft.com/office/powerpoint/2010/main" val="3902264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AD2864-D54B-4617-A352-0A292FE35666}"/>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Dashboard evidence</a:t>
            </a:r>
          </a:p>
        </p:txBody>
      </p:sp>
      <p:sp>
        <p:nvSpPr>
          <p:cNvPr id="2" name="">
            <a:extLst xmlns:a="http://schemas.openxmlformats.org/drawingml/2006/main">
              <a:ext uri="{FF2B5EF4-FFF2-40B4-BE49-F238E27FC236}">
                <a16:creationId xmlns:a16="http://schemas.microsoft.com/office/drawing/2014/main" id="{C8A5E2C7-3EE8-4B6B-9628-A4B8651082A2}"/>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Live simulation and detector faults are visible in the browser</a:t>
            </a:r>
          </a:p>
        </p:txBody>
      </p:sp>
      <p:sp>
        <p:nvSpPr>
          <p:cNvPr id="3" name="">
            <a:extLst xmlns:a="http://schemas.openxmlformats.org/drawingml/2006/main">
              <a:ext uri="{FF2B5EF4-FFF2-40B4-BE49-F238E27FC236}">
                <a16:creationId xmlns:a16="http://schemas.microsoft.com/office/drawing/2014/main" id="{C12BA85A-9473-48DC-84C4-5C473BC0A764}"/>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f90e5d8794f4bc6"/>
          <a:srcRect xmlns:a="http://schemas.openxmlformats.org/drawingml/2006/main" l="0" t="25610" r="0" b="25610"/>
          <a:stretch xmlns:a="http://schemas.openxmlformats.org/drawingml/2006/main">
            <a:fillRect l="0" t="0" r="0" b="0"/>
          </a:stretch>
        </p:blipFill>
        <p:spPr>
          <a:xfrm xmlns:a="http://schemas.openxmlformats.org/drawingml/2006/main">
            <a:off x="666750" y="1485900"/>
            <a:ext cx="4953000" cy="37147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b8c732970ad447f"/>
          <a:srcRect xmlns:a="http://schemas.openxmlformats.org/drawingml/2006/main" l="0" t="25610" r="0" b="25610"/>
          <a:stretch xmlns:a="http://schemas.openxmlformats.org/drawingml/2006/main">
            <a:fillRect l="0" t="0" r="0" b="0"/>
          </a:stretch>
        </p:blipFill>
        <p:spPr>
          <a:xfrm xmlns:a="http://schemas.openxmlformats.org/drawingml/2006/main">
            <a:off x="6381750" y="1485900"/>
            <a:ext cx="4953000" cy="3714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627EED0-26A6-46B8-BF9A-2F069EC70037}"/>
              </a:ext>
            </a:extLst>
          </p:cNvPr>
          <p:cNvSpPr>
            <a:spLocks xmlns:a="http://schemas.openxmlformats.org/drawingml/2006/main" noGrp="1"/>
          </p:cNvSpPr>
          <p:nvPr/>
        </p:nvSpPr>
        <p:spPr>
          <a:xfrm xmlns:a="http://schemas.openxmlformats.org/drawingml/2006/main">
            <a:off x="1143000" y="53911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7202A"/>
                </a:solidFill>
                <a:latin typeface="Arial"/>
                <a:ea typeface="Arial"/>
                <a:cs typeface="Arial"/>
              </a:defRPr>
            </a:pPr>
            <a:r>
              <a:rPr sz="1350" b="1">
                <a:solidFill>
                  <a:srgbClr val="17202A"/>
                </a:solidFill>
                <a:latin typeface="Arial"/>
                <a:ea typeface="Arial"/>
                <a:cs typeface="Arial"/>
              </a:rPr>
              <a:t>Live queues and moving vehicles</a:t>
            </a:r>
          </a:p>
        </p:txBody>
      </p:sp>
      <p:sp>
        <p:nvSpPr>
          <p:cNvPr id="7" name="">
            <a:extLst xmlns:a="http://schemas.openxmlformats.org/drawingml/2006/main">
              <a:ext uri="{FF2B5EF4-FFF2-40B4-BE49-F238E27FC236}">
                <a16:creationId xmlns:a16="http://schemas.microsoft.com/office/drawing/2014/main" id="{2E16AD84-9452-4005-BFB9-8C72356E7A0F}"/>
              </a:ext>
            </a:extLst>
          </p:cNvPr>
          <p:cNvSpPr>
            <a:spLocks xmlns:a="http://schemas.openxmlformats.org/drawingml/2006/main" noGrp="1"/>
          </p:cNvSpPr>
          <p:nvPr/>
        </p:nvSpPr>
        <p:spPr>
          <a:xfrm xmlns:a="http://schemas.openxmlformats.org/drawingml/2006/main">
            <a:off x="6667500" y="53911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350" b="1">
                <a:solidFill>
                  <a:srgbClr val="17202A"/>
                </a:solidFill>
                <a:latin typeface="Arial"/>
                <a:ea typeface="Arial"/>
                <a:cs typeface="Arial"/>
              </a:defRPr>
            </a:pPr>
            <a:r>
              <a:rPr sz="1350" b="1">
                <a:solidFill>
                  <a:srgbClr val="17202A"/>
                </a:solidFill>
                <a:latin typeface="Arial"/>
                <a:ea typeface="Arial"/>
                <a:cs typeface="Arial"/>
              </a:rPr>
              <a:t>Detector stuck high while real queue is lower</a:t>
            </a:r>
          </a:p>
        </p:txBody>
      </p:sp>
      <p:sp>
        <p:nvSpPr>
          <p:cNvPr id="8" name="">
            <a:extLst xmlns:a="http://schemas.openxmlformats.org/drawingml/2006/main">
              <a:ext uri="{FF2B5EF4-FFF2-40B4-BE49-F238E27FC236}">
                <a16:creationId xmlns:a16="http://schemas.microsoft.com/office/drawing/2014/main" id="{408168AD-84A6-4B75-B2D9-5E3E209E589C}"/>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8</a:t>
            </a:r>
          </a:p>
        </p:txBody>
      </p:sp>
    </p:spTree>
    <p:extLst>
      <p:ext uri="{BB962C8B-B14F-4D97-AF65-F5344CB8AC3E}">
        <p14:creationId xmlns:p14="http://schemas.microsoft.com/office/powerpoint/2010/main" val="12962363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2A67F3-6A73-497A-AAD3-56336345AA18}"/>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Benchmark results</a:t>
            </a:r>
          </a:p>
        </p:txBody>
      </p:sp>
      <p:sp>
        <p:nvSpPr>
          <p:cNvPr id="2" name="">
            <a:extLst xmlns:a="http://schemas.openxmlformats.org/drawingml/2006/main">
              <a:ext uri="{FF2B5EF4-FFF2-40B4-BE49-F238E27FC236}">
                <a16:creationId xmlns:a16="http://schemas.microsoft.com/office/drawing/2014/main" id="{C9A97C54-0CE7-4C23-AC23-B6E8290BFF83}"/>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Adaptive control reduced mean wait in all scenarios</a:t>
            </a:r>
          </a:p>
        </p:txBody>
      </p:sp>
      <p:sp>
        <p:nvSpPr>
          <p:cNvPr id="3" name="">
            <a:extLst xmlns:a="http://schemas.openxmlformats.org/drawingml/2006/main">
              <a:ext uri="{FF2B5EF4-FFF2-40B4-BE49-F238E27FC236}">
                <a16:creationId xmlns:a16="http://schemas.microsoft.com/office/drawing/2014/main" id="{EAA7F9D8-2592-457D-A99C-16B3199CC376}"/>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9D55"/>
          </a:solidFill>
          <a:ln xmlns:a="http://schemas.openxmlformats.org/drawingml/2006/main" w="0">
            <a:solidFill>
              <a:srgbClr val="1F9D55"/>
            </a:solidFill>
          </a:ln>
        </p:spPr>
      </p:sp>
      <p:graphicFrame>
        <p:nvGraphicFramePr>
          <p:cNvPr id="13" name="Chart"/>
          <p:cNvGraphicFramePr/>
          <p:nvPr/>
        </p:nvGraphicFramePr>
        <p:xfrm>
          <a:off xmlns:a="http://schemas.openxmlformats.org/drawingml/2006/main" x="742950" y="1619250"/>
          <a:ext xmlns:a="http://schemas.openxmlformats.org/drawingml/2006/main" cx="8191500" cy="3714750"/>
        </p:xfrm>
        <a:graphic xmlns:a="http://schemas.openxmlformats.org/drawingml/2006/main">
          <a:graphicData uri="http://schemas.openxmlformats.org/drawingml/2006/chart">
            <c:chart xmlns:r="http://schemas.openxmlformats.org/officeDocument/2006/relationships" xmlns:c="http://schemas.openxmlformats.org/drawingml/2006/chart" r:id="R7caf252d0921414d"/>
          </a:graphicData>
        </a:graphic>
      </p:graphicFrame>
      <p:sp>
        <p:nvSpPr>
          <p:cNvPr id="5" name="">
            <a:extLst xmlns:a="http://schemas.openxmlformats.org/drawingml/2006/main">
              <a:ext uri="{FF2B5EF4-FFF2-40B4-BE49-F238E27FC236}">
                <a16:creationId xmlns:a16="http://schemas.microsoft.com/office/drawing/2014/main" id="{5E897325-4DB0-4FAC-99B6-9C5E72561E4D}"/>
              </a:ext>
            </a:extLst>
          </p:cNvPr>
          <p:cNvSpPr>
            <a:spLocks xmlns:a="http://schemas.openxmlformats.org/drawingml/2006/main" noGrp="1"/>
          </p:cNvSpPr>
          <p:nvPr/>
        </p:nvSpPr>
        <p:spPr>
          <a:xfrm xmlns:a="http://schemas.openxmlformats.org/drawingml/2006/main">
            <a:off x="8953500" y="20955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100" b="1">
                <a:solidFill>
                  <a:srgbClr val="1F9D55"/>
                </a:solidFill>
                <a:latin typeface="Arial"/>
                <a:ea typeface="Arial"/>
                <a:cs typeface="Arial"/>
              </a:defRPr>
            </a:pPr>
            <a:r>
              <a:rPr sz="2100" b="1">
                <a:solidFill>
                  <a:srgbClr val="1F9D55"/>
                </a:solidFill>
                <a:latin typeface="Arial"/>
                <a:ea typeface="Arial"/>
                <a:cs typeface="Arial"/>
              </a:rPr>
              <a:t>8.33%-43.11%</a:t>
            </a:r>
          </a:p>
        </p:txBody>
      </p:sp>
      <p:sp>
        <p:nvSpPr>
          <p:cNvPr id="6" name="">
            <a:extLst xmlns:a="http://schemas.openxmlformats.org/drawingml/2006/main">
              <a:ext uri="{FF2B5EF4-FFF2-40B4-BE49-F238E27FC236}">
                <a16:creationId xmlns:a16="http://schemas.microsoft.com/office/drawing/2014/main" id="{F110888F-F837-475F-AFB7-A77B4218ED7E}"/>
              </a:ext>
            </a:extLst>
          </p:cNvPr>
          <p:cNvSpPr>
            <a:spLocks xmlns:a="http://schemas.openxmlformats.org/drawingml/2006/main" noGrp="1"/>
          </p:cNvSpPr>
          <p:nvPr/>
        </p:nvSpPr>
        <p:spPr>
          <a:xfrm xmlns:a="http://schemas.openxmlformats.org/drawingml/2006/main">
            <a:off x="9048750" y="2724150"/>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mean-wait improvement</a:t>
            </a:r>
          </a:p>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range</a:t>
            </a:r>
          </a:p>
        </p:txBody>
      </p:sp>
      <p:sp>
        <p:nvSpPr>
          <p:cNvPr id="7" name="">
            <a:extLst xmlns:a="http://schemas.openxmlformats.org/drawingml/2006/main">
              <a:ext uri="{FF2B5EF4-FFF2-40B4-BE49-F238E27FC236}">
                <a16:creationId xmlns:a16="http://schemas.microsoft.com/office/drawing/2014/main" id="{61116621-3026-44E2-8828-DF49327DD750}"/>
              </a:ext>
            </a:extLst>
          </p:cNvPr>
          <p:cNvSpPr>
            <a:spLocks xmlns:a="http://schemas.openxmlformats.org/drawingml/2006/main" noGrp="1"/>
          </p:cNvSpPr>
          <p:nvPr/>
        </p:nvSpPr>
        <p:spPr>
          <a:xfrm xmlns:a="http://schemas.openxmlformats.org/drawingml/2006/main">
            <a:off x="9239250" y="36766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8E4182B8-4C12-4103-84EA-951BBF471798}"/>
              </a:ext>
            </a:extLst>
          </p:cNvPr>
          <p:cNvSpPr>
            <a:spLocks xmlns:a="http://schemas.openxmlformats.org/drawingml/2006/main" noGrp="1"/>
          </p:cNvSpPr>
          <p:nvPr/>
        </p:nvSpPr>
        <p:spPr>
          <a:xfrm xmlns:a="http://schemas.openxmlformats.org/drawingml/2006/main">
            <a:off x="9239250" y="42291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safety violations</a:t>
            </a:r>
          </a:p>
        </p:txBody>
      </p:sp>
      <p:sp>
        <p:nvSpPr>
          <p:cNvPr id="9" name="">
            <a:extLst xmlns:a="http://schemas.openxmlformats.org/drawingml/2006/main">
              <a:ext uri="{FF2B5EF4-FFF2-40B4-BE49-F238E27FC236}">
                <a16:creationId xmlns:a16="http://schemas.microsoft.com/office/drawing/2014/main" id="{CCB93C2F-E561-4C7C-9D93-EAD9AFE8DD76}"/>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9</a:t>
            </a:r>
          </a:p>
        </p:txBody>
      </p:sp>
    </p:spTree>
    <p:extLst>
      <p:ext uri="{BB962C8B-B14F-4D97-AF65-F5344CB8AC3E}">
        <p14:creationId xmlns:p14="http://schemas.microsoft.com/office/powerpoint/2010/main" val="10845345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B56E49-52EE-4F4A-88A8-7EC0DD786B61}"/>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Fault testing</a:t>
            </a:r>
          </a:p>
        </p:txBody>
      </p:sp>
      <p:sp>
        <p:nvSpPr>
          <p:cNvPr id="2" name="">
            <a:extLst xmlns:a="http://schemas.openxmlformats.org/drawingml/2006/main">
              <a:ext uri="{FF2B5EF4-FFF2-40B4-BE49-F238E27FC236}">
                <a16:creationId xmlns:a16="http://schemas.microsoft.com/office/drawing/2014/main" id="{2F189C5F-7D83-4CB7-9709-FB432EDC43BC}"/>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Bad detector input affects performance, not phase safety</a:t>
            </a:r>
          </a:p>
        </p:txBody>
      </p:sp>
      <p:sp>
        <p:nvSpPr>
          <p:cNvPr id="3" name="">
            <a:extLst xmlns:a="http://schemas.openxmlformats.org/drawingml/2006/main">
              <a:ext uri="{FF2B5EF4-FFF2-40B4-BE49-F238E27FC236}">
                <a16:creationId xmlns:a16="http://schemas.microsoft.com/office/drawing/2014/main" id="{AB932491-A73B-41C0-939A-7FB861340CA9}"/>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6FEB"/>
          </a:solidFill>
          <a:ln xmlns:a="http://schemas.openxmlformats.org/drawingml/2006/main" w="0">
            <a:solidFill>
              <a:srgbClr val="1F6FEB"/>
            </a:solidFill>
          </a:ln>
        </p:spPr>
      </p:sp>
      <p:graphicFrame>
        <p:nvGraphicFramePr>
          <p:cNvPr id="10" name=""/>
          <p:cNvGraphicFramePr/>
          <p:nvPr/>
        </p:nvGraphicFramePr>
        <p:xfrm>
          <a:off xmlns:a="http://schemas.openxmlformats.org/drawingml/2006/main" x="685800" y="1619250"/>
          <a:ext xmlns:a="http://schemas.openxmlformats.org/drawingml/2006/main" cx="9810750" cy="2476500"/>
        </p:xfrm>
        <a:graphic xmlns:a="http://schemas.openxmlformats.org/drawingml/2006/main">
          <a:graphicData uri="http://schemas.openxmlformats.org/drawingml/2006/table">
            <a:tbl>
              <a:tblPr firstRow="1" bandRow="1"/>
              <a:tblGrid>
                <a:gridCol w="2381250"/>
                <a:gridCol w="857250"/>
                <a:gridCol w="1428750"/>
                <a:gridCol w="1428750"/>
                <a:gridCol w="1428750"/>
                <a:gridCol w="2286000"/>
              </a:tblGrid>
              <a:tr h="495300">
                <a:tc>
                  <a:txBody>
                    <a:bodyPr>
                      <a:noAutofit/>
                    </a:bodyPr>
                    <a:lstStyle/>
                    <a:p>
                      <a:r>
                        <a:rPr sz="975" b="1">
                          <a:solidFill>
                            <a:srgbClr val="FFFFFF"/>
                          </a:solidFill>
                          <a:latin typeface="Arial"/>
                          <a:ea typeface="Arial"/>
                          <a:cs typeface="Arial"/>
                        </a:rPr>
                        <a:t>Fault profile</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Runs</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Completed</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Mean wait</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Max queue</a:t>
                      </a:r>
                    </a:p>
                  </a:txBody>
                  <a:tcPr marL="91440" marR="91440" marT="45720" marB="45720">
                    <a:solidFill>
                      <a:srgbClr val="404852"/>
                    </a:solidFill>
                  </a:tcPr>
                </a:tc>
                <a:tc>
                  <a:txBody>
                    <a:bodyPr>
                      <a:noAutofit/>
                    </a:bodyPr>
                    <a:lstStyle/>
                    <a:p>
                      <a:r>
                        <a:rPr sz="975" b="1">
                          <a:solidFill>
                            <a:srgbClr val="FFFFFF"/>
                          </a:solidFill>
                          <a:latin typeface="Arial"/>
                          <a:ea typeface="Arial"/>
                          <a:cs typeface="Arial"/>
                        </a:rPr>
                        <a:t>Safety violations</a:t>
                      </a:r>
                    </a:p>
                  </a:txBody>
                  <a:tcPr marL="91440" marR="91440" marT="45720" marB="45720">
                    <a:solidFill>
                      <a:srgbClr val="404852"/>
                    </a:solidFill>
                  </a:tcPr>
                </a:tc>
              </a:tr>
              <a:tr h="495300">
                <a:tc>
                  <a:txBody>
                    <a:bodyPr>
                      <a:noAutofit/>
                    </a:bodyPr>
                    <a:lstStyle/>
                    <a:p>
                      <a:r>
                        <a:rPr sz="900">
                          <a:solidFill>
                            <a:srgbClr val="17202A"/>
                          </a:solidFill>
                          <a:latin typeface="Arial"/>
                          <a:ea typeface="Arial"/>
                          <a:cs typeface="Arial"/>
                        </a:rPr>
                        <a:t>none</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196.50</a:t>
                      </a:r>
                    </a:p>
                  </a:txBody>
                  <a:tcPr marL="91440" marR="91440" marT="45720" marB="45720"/>
                </a:tc>
                <a:tc>
                  <a:txBody>
                    <a:bodyPr>
                      <a:noAutofit/>
                    </a:bodyPr>
                    <a:lstStyle/>
                    <a:p>
                      <a:r>
                        <a:rPr sz="900">
                          <a:solidFill>
                            <a:srgbClr val="17202A"/>
                          </a:solidFill>
                          <a:latin typeface="Arial"/>
                          <a:ea typeface="Arial"/>
                          <a:cs typeface="Arial"/>
                        </a:rPr>
                        <a:t>29.51 s</a:t>
                      </a:r>
                    </a:p>
                  </a:txBody>
                  <a:tcPr marL="91440" marR="91440" marT="45720" marB="45720"/>
                </a:tc>
                <a:tc>
                  <a:txBody>
                    <a:bodyPr>
                      <a:noAutofit/>
                    </a:bodyPr>
                    <a:lstStyle/>
                    <a:p>
                      <a:r>
                        <a:rPr sz="900">
                          <a:solidFill>
                            <a:srgbClr val="17202A"/>
                          </a:solidFill>
                          <a:latin typeface="Arial"/>
                          <a:ea typeface="Arial"/>
                          <a:cs typeface="Arial"/>
                        </a:rPr>
                        <a:t>22.90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r h="495300">
                <a:tc>
                  <a:txBody>
                    <a:bodyPr>
                      <a:noAutofit/>
                    </a:bodyPr>
                    <a:lstStyle/>
                    <a:p>
                      <a:r>
                        <a:rPr sz="900">
                          <a:solidFill>
                            <a:srgbClr val="17202A"/>
                          </a:solidFill>
                          <a:latin typeface="Arial"/>
                          <a:ea typeface="Arial"/>
                          <a:cs typeface="Arial"/>
                        </a:rPr>
                        <a:t>ns-stuck-high</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198.40</a:t>
                      </a:r>
                    </a:p>
                  </a:txBody>
                  <a:tcPr marL="91440" marR="91440" marT="45720" marB="45720"/>
                </a:tc>
                <a:tc>
                  <a:txBody>
                    <a:bodyPr>
                      <a:noAutofit/>
                    </a:bodyPr>
                    <a:lstStyle/>
                    <a:p>
                      <a:r>
                        <a:rPr sz="900">
                          <a:solidFill>
                            <a:srgbClr val="17202A"/>
                          </a:solidFill>
                          <a:latin typeface="Arial"/>
                          <a:ea typeface="Arial"/>
                          <a:cs typeface="Arial"/>
                        </a:rPr>
                        <a:t>26.52 s</a:t>
                      </a:r>
                    </a:p>
                  </a:txBody>
                  <a:tcPr marL="91440" marR="91440" marT="45720" marB="45720"/>
                </a:tc>
                <a:tc>
                  <a:txBody>
                    <a:bodyPr>
                      <a:noAutofit/>
                    </a:bodyPr>
                    <a:lstStyle/>
                    <a:p>
                      <a:r>
                        <a:rPr sz="900">
                          <a:solidFill>
                            <a:srgbClr val="17202A"/>
                          </a:solidFill>
                          <a:latin typeface="Arial"/>
                          <a:ea typeface="Arial"/>
                          <a:cs typeface="Arial"/>
                        </a:rPr>
                        <a:t>17.40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r h="495300">
                <a:tc>
                  <a:txBody>
                    <a:bodyPr>
                      <a:noAutofit/>
                    </a:bodyPr>
                    <a:lstStyle/>
                    <a:p>
                      <a:r>
                        <a:rPr sz="900">
                          <a:solidFill>
                            <a:srgbClr val="17202A"/>
                          </a:solidFill>
                          <a:latin typeface="Arial"/>
                          <a:ea typeface="Arial"/>
                          <a:cs typeface="Arial"/>
                        </a:rPr>
                        <a:t>ew-stuck-low</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197.50</a:t>
                      </a:r>
                    </a:p>
                  </a:txBody>
                  <a:tcPr marL="91440" marR="91440" marT="45720" marB="45720"/>
                </a:tc>
                <a:tc>
                  <a:txBody>
                    <a:bodyPr>
                      <a:noAutofit/>
                    </a:bodyPr>
                    <a:lstStyle/>
                    <a:p>
                      <a:r>
                        <a:rPr sz="900">
                          <a:solidFill>
                            <a:srgbClr val="17202A"/>
                          </a:solidFill>
                          <a:latin typeface="Arial"/>
                          <a:ea typeface="Arial"/>
                          <a:cs typeface="Arial"/>
                        </a:rPr>
                        <a:t>24.29 s</a:t>
                      </a:r>
                    </a:p>
                  </a:txBody>
                  <a:tcPr marL="91440" marR="91440" marT="45720" marB="45720"/>
                </a:tc>
                <a:tc>
                  <a:txBody>
                    <a:bodyPr>
                      <a:noAutofit/>
                    </a:bodyPr>
                    <a:lstStyle/>
                    <a:p>
                      <a:r>
                        <a:rPr sz="900">
                          <a:solidFill>
                            <a:srgbClr val="17202A"/>
                          </a:solidFill>
                          <a:latin typeface="Arial"/>
                          <a:ea typeface="Arial"/>
                          <a:cs typeface="Arial"/>
                        </a:rPr>
                        <a:t>17.30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r h="495300">
                <a:tc>
                  <a:txBody>
                    <a:bodyPr>
                      <a:noAutofit/>
                    </a:bodyPr>
                    <a:lstStyle/>
                    <a:p>
                      <a:r>
                        <a:rPr sz="900">
                          <a:solidFill>
                            <a:srgbClr val="17202A"/>
                          </a:solidFill>
                          <a:latin typeface="Arial"/>
                          <a:ea typeface="Arial"/>
                          <a:cs typeface="Arial"/>
                        </a:rPr>
                        <a:t>all-stuck-low-midrun</a:t>
                      </a:r>
                    </a:p>
                  </a:txBody>
                  <a:tcPr marL="91440" marR="91440" marT="45720" marB="45720"/>
                </a:tc>
                <a:tc>
                  <a:txBody>
                    <a:bodyPr>
                      <a:noAutofit/>
                    </a:bodyPr>
                    <a:lstStyle/>
                    <a:p>
                      <a:r>
                        <a:rPr sz="900">
                          <a:solidFill>
                            <a:srgbClr val="17202A"/>
                          </a:solidFill>
                          <a:latin typeface="Arial"/>
                          <a:ea typeface="Arial"/>
                          <a:cs typeface="Arial"/>
                        </a:rPr>
                        <a:t>10</a:t>
                      </a:r>
                    </a:p>
                  </a:txBody>
                  <a:tcPr marL="91440" marR="91440" marT="45720" marB="45720"/>
                </a:tc>
                <a:tc>
                  <a:txBody>
                    <a:bodyPr>
                      <a:noAutofit/>
                    </a:bodyPr>
                    <a:lstStyle/>
                    <a:p>
                      <a:r>
                        <a:rPr sz="900">
                          <a:solidFill>
                            <a:srgbClr val="17202A"/>
                          </a:solidFill>
                          <a:latin typeface="Arial"/>
                          <a:ea typeface="Arial"/>
                          <a:cs typeface="Arial"/>
                        </a:rPr>
                        <a:t>160.60</a:t>
                      </a:r>
                    </a:p>
                  </a:txBody>
                  <a:tcPr marL="91440" marR="91440" marT="45720" marB="45720"/>
                </a:tc>
                <a:tc>
                  <a:txBody>
                    <a:bodyPr>
                      <a:noAutofit/>
                    </a:bodyPr>
                    <a:lstStyle/>
                    <a:p>
                      <a:r>
                        <a:rPr sz="900">
                          <a:solidFill>
                            <a:srgbClr val="17202A"/>
                          </a:solidFill>
                          <a:latin typeface="Arial"/>
                          <a:ea typeface="Arial"/>
                          <a:cs typeface="Arial"/>
                        </a:rPr>
                        <a:t>34.18 s</a:t>
                      </a:r>
                    </a:p>
                  </a:txBody>
                  <a:tcPr marL="91440" marR="91440" marT="45720" marB="45720"/>
                </a:tc>
                <a:tc>
                  <a:txBody>
                    <a:bodyPr>
                      <a:noAutofit/>
                    </a:bodyPr>
                    <a:lstStyle/>
                    <a:p>
                      <a:r>
                        <a:rPr sz="900">
                          <a:solidFill>
                            <a:srgbClr val="17202A"/>
                          </a:solidFill>
                          <a:latin typeface="Arial"/>
                          <a:ea typeface="Arial"/>
                          <a:cs typeface="Arial"/>
                        </a:rPr>
                        <a:t>41.00</a:t>
                      </a:r>
                    </a:p>
                  </a:txBody>
                  <a:tcPr marL="91440" marR="91440" marT="45720" marB="45720"/>
                </a:tc>
                <a:tc>
                  <a:txBody>
                    <a:bodyPr>
                      <a:noAutofit/>
                    </a:bodyPr>
                    <a:lstStyle/>
                    <a:p>
                      <a:r>
                        <a:rPr sz="900">
                          <a:solidFill>
                            <a:srgbClr val="17202A"/>
                          </a:solidFill>
                          <a:latin typeface="Arial"/>
                          <a:ea typeface="Arial"/>
                          <a:cs typeface="Arial"/>
                        </a:rPr>
                        <a:t>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CBD53F04-8587-4A01-9B83-707602E020A6}"/>
              </a:ext>
            </a:extLst>
          </p:cNvPr>
          <p:cNvSpPr>
            <a:spLocks xmlns:a="http://schemas.openxmlformats.org/drawingml/2006/main" noGrp="1"/>
          </p:cNvSpPr>
          <p:nvPr/>
        </p:nvSpPr>
        <p:spPr>
          <a:xfrm xmlns:a="http://schemas.openxmlformats.org/drawingml/2006/main">
            <a:off x="876300" y="4572000"/>
            <a:ext cx="9334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The worst fault profile reduced completed vehicles and increased maximum queue, but no test produced conflicting green signals.</a:t>
            </a:r>
          </a:p>
        </p:txBody>
      </p:sp>
      <p:sp>
        <p:nvSpPr>
          <p:cNvPr id="6" name="">
            <a:extLst xmlns:a="http://schemas.openxmlformats.org/drawingml/2006/main">
              <a:ext uri="{FF2B5EF4-FFF2-40B4-BE49-F238E27FC236}">
                <a16:creationId xmlns:a16="http://schemas.microsoft.com/office/drawing/2014/main" id="{FCF7E3A7-90AC-4847-89D5-3CF8E086D381}"/>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10</a:t>
            </a:r>
          </a:p>
        </p:txBody>
      </p:sp>
    </p:spTree>
    <p:extLst>
      <p:ext uri="{BB962C8B-B14F-4D97-AF65-F5344CB8AC3E}">
        <p14:creationId xmlns:p14="http://schemas.microsoft.com/office/powerpoint/2010/main" val="17098052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C714FB-C4A3-4056-9AE7-3DBCA7D21015}"/>
              </a:ext>
            </a:extLst>
          </p:cNvPr>
          <p:cNvSpPr>
            <a:spLocks xmlns:a="http://schemas.openxmlformats.org/drawingml/2006/main" noGrp="1"/>
          </p:cNvSpPr>
          <p:nvPr/>
        </p:nvSpPr>
        <p:spPr>
          <a:xfrm xmlns:a="http://schemas.openxmlformats.org/drawingml/2006/main">
            <a:off x="609600" y="400050"/>
            <a:ext cx="876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25024145-7B85-4A46-B017-6130934EAEE3}"/>
              </a:ext>
            </a:extLst>
          </p:cNvPr>
          <p:cNvSpPr>
            <a:spLocks xmlns:a="http://schemas.openxmlformats.org/drawingml/2006/main" noGrp="1"/>
          </p:cNvSpPr>
          <p:nvPr/>
        </p:nvSpPr>
        <p:spPr>
          <a:xfrm xmlns:a="http://schemas.openxmlformats.org/drawingml/2006/main">
            <a:off x="628650" y="9144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637083"/>
                </a:solidFill>
                <a:latin typeface="Arial"/>
                <a:ea typeface="Arial"/>
                <a:cs typeface="Arial"/>
              </a:defRPr>
            </a:pPr>
            <a:r>
              <a:rPr sz="1200" b="0">
                <a:solidFill>
                  <a:srgbClr val="637083"/>
                </a:solidFill>
                <a:latin typeface="Arial"/>
                <a:ea typeface="Arial"/>
                <a:cs typeface="Arial"/>
              </a:rPr>
              <a:t>The simulation supports the adaptive-control claim</a:t>
            </a:r>
          </a:p>
        </p:txBody>
      </p:sp>
      <p:sp>
        <p:nvSpPr>
          <p:cNvPr id="3" name="">
            <a:extLst xmlns:a="http://schemas.openxmlformats.org/drawingml/2006/main">
              <a:ext uri="{FF2B5EF4-FFF2-40B4-BE49-F238E27FC236}">
                <a16:creationId xmlns:a16="http://schemas.microsoft.com/office/drawing/2014/main" id="{D0F229FC-7D47-4E0D-81C3-24433B89BEC8}"/>
              </a:ext>
            </a:extLst>
          </p:cNvPr>
          <p:cNvSpPr>
            <a:spLocks xmlns:a="http://schemas.openxmlformats.org/drawingml/2006/main" noGrp="1"/>
          </p:cNvSpPr>
          <p:nvPr/>
        </p:nvSpPr>
        <p:spPr>
          <a:xfrm xmlns:a="http://schemas.openxmlformats.org/drawingml/2006/main">
            <a:off x="609600" y="1257300"/>
            <a:ext cx="1714500" cy="38100"/>
          </a:xfrm>
          <a:prstGeom xmlns:a="http://schemas.openxmlformats.org/drawingml/2006/main" prst="rect">
            <a:avLst/>
          </a:prstGeom>
          <a:solidFill xmlns:a="http://schemas.openxmlformats.org/drawingml/2006/main">
            <a:srgbClr val="1F9D55"/>
          </a:solidFill>
          <a:ln xmlns:a="http://schemas.openxmlformats.org/drawingml/2006/main" w="0">
            <a:solidFill>
              <a:srgbClr val="1F9D55"/>
            </a:solidFill>
          </a:ln>
        </p:spPr>
      </p:sp>
      <p:sp>
        <p:nvSpPr>
          <p:cNvPr id="4" name="">
            <a:extLst xmlns:a="http://schemas.openxmlformats.org/drawingml/2006/main">
              <a:ext uri="{FF2B5EF4-FFF2-40B4-BE49-F238E27FC236}">
                <a16:creationId xmlns:a16="http://schemas.microsoft.com/office/drawing/2014/main" id="{8CC5F957-DA01-4057-8EE8-FED9C7731828}"/>
              </a:ext>
            </a:extLst>
          </p:cNvPr>
          <p:cNvSpPr>
            <a:spLocks xmlns:a="http://schemas.openxmlformats.org/drawingml/2006/main" noGrp="1"/>
          </p:cNvSpPr>
          <p:nvPr/>
        </p:nvSpPr>
        <p:spPr>
          <a:xfrm xmlns:a="http://schemas.openxmlformats.org/drawingml/2006/main">
            <a:off x="876300" y="1581150"/>
            <a:ext cx="7429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project runs fully in software with no physical hardware dependency.</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Adaptive timing reduced mean wait in all five benchmark scenarios.</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adaptive controller completed more vehicles than the fixed-time baseline.</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Benchmark and detector-fault experiments recorded zero conflicting-green violations.</a:t>
            </a:r>
          </a:p>
          <a:p xmlns:a="http://schemas.openxmlformats.org/drawingml/2006/main">
            <a:pPr marL="228600" indent="-101600">
              <a:spcAft>
                <a:spcPts val="900"/>
              </a:spcAft>
              <a:buChar char="•"/>
              <a:defRPr sz="1650">
                <a:solidFill>
                  <a:srgbClr val="17202A"/>
                </a:solidFill>
                <a:latin typeface="Arial"/>
                <a:ea typeface="Arial"/>
                <a:cs typeface="Arial"/>
              </a:defRPr>
            </a:pPr>
            <a:r>
              <a:rPr sz="1650">
                <a:solidFill>
                  <a:srgbClr val="17202A"/>
                </a:solidFill>
                <a:latin typeface="Arial"/>
                <a:ea typeface="Arial"/>
                <a:cs typeface="Arial"/>
              </a:rPr>
              <a:t>The main limitation is the simplified traffic model.</a:t>
            </a:r>
          </a:p>
        </p:txBody>
      </p:sp>
      <p:sp>
        <p:nvSpPr>
          <p:cNvPr id="5" name="">
            <a:extLst xmlns:a="http://schemas.openxmlformats.org/drawingml/2006/main">
              <a:ext uri="{FF2B5EF4-FFF2-40B4-BE49-F238E27FC236}">
                <a16:creationId xmlns:a16="http://schemas.microsoft.com/office/drawing/2014/main" id="{5A615588-3C14-436B-8B55-8F1A7740D73F}"/>
              </a:ext>
            </a:extLst>
          </p:cNvPr>
          <p:cNvSpPr>
            <a:spLocks xmlns:a="http://schemas.openxmlformats.org/drawingml/2006/main" noGrp="1"/>
          </p:cNvSpPr>
          <p:nvPr/>
        </p:nvSpPr>
        <p:spPr>
          <a:xfrm xmlns:a="http://schemas.openxmlformats.org/drawingml/2006/main">
            <a:off x="8858250" y="20002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6FEB"/>
                </a:solidFill>
                <a:latin typeface="Arial"/>
                <a:ea typeface="Arial"/>
                <a:cs typeface="Arial"/>
              </a:defRPr>
            </a:pPr>
            <a:r>
              <a:rPr sz="2550" b="1">
                <a:solidFill>
                  <a:srgbClr val="1F6FEB"/>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2390BF8C-F4FA-43F1-8D04-F22CE0084A02}"/>
              </a:ext>
            </a:extLst>
          </p:cNvPr>
          <p:cNvSpPr>
            <a:spLocks xmlns:a="http://schemas.openxmlformats.org/drawingml/2006/main" noGrp="1"/>
          </p:cNvSpPr>
          <p:nvPr/>
        </p:nvSpPr>
        <p:spPr>
          <a:xfrm xmlns:a="http://schemas.openxmlformats.org/drawingml/2006/main">
            <a:off x="8858250" y="25527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tests passing</a:t>
            </a:r>
          </a:p>
        </p:txBody>
      </p:sp>
      <p:sp>
        <p:nvSpPr>
          <p:cNvPr id="7" name="">
            <a:extLst xmlns:a="http://schemas.openxmlformats.org/drawingml/2006/main">
              <a:ext uri="{FF2B5EF4-FFF2-40B4-BE49-F238E27FC236}">
                <a16:creationId xmlns:a16="http://schemas.microsoft.com/office/drawing/2014/main" id="{8EAD2D32-1DB8-4032-9D15-7CEA477DE3AC}"/>
              </a:ext>
            </a:extLst>
          </p:cNvPr>
          <p:cNvSpPr>
            <a:spLocks xmlns:a="http://schemas.openxmlformats.org/drawingml/2006/main" noGrp="1"/>
          </p:cNvSpPr>
          <p:nvPr/>
        </p:nvSpPr>
        <p:spPr>
          <a:xfrm xmlns:a="http://schemas.openxmlformats.org/drawingml/2006/main">
            <a:off x="8858250" y="36195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550" b="1">
                <a:solidFill>
                  <a:srgbClr val="1F9D55"/>
                </a:solidFill>
                <a:latin typeface="Arial"/>
                <a:ea typeface="Arial"/>
                <a:cs typeface="Arial"/>
              </a:defRPr>
            </a:pPr>
            <a:r>
              <a:rPr sz="2550" b="1">
                <a:solidFill>
                  <a:srgbClr val="1F9D5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E341B4BC-6C08-4C7A-89C8-A58E12D9101A}"/>
              </a:ext>
            </a:extLst>
          </p:cNvPr>
          <p:cNvSpPr>
            <a:spLocks xmlns:a="http://schemas.openxmlformats.org/drawingml/2006/main" noGrp="1"/>
          </p:cNvSpPr>
          <p:nvPr/>
        </p:nvSpPr>
        <p:spPr>
          <a:xfrm xmlns:a="http://schemas.openxmlformats.org/drawingml/2006/main">
            <a:off x="8858250" y="41719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637083"/>
                </a:solidFill>
                <a:latin typeface="Arial"/>
                <a:ea typeface="Arial"/>
                <a:cs typeface="Arial"/>
              </a:defRPr>
            </a:pPr>
            <a:r>
              <a:rPr sz="1125" b="0">
                <a:solidFill>
                  <a:srgbClr val="637083"/>
                </a:solidFill>
                <a:latin typeface="Arial"/>
                <a:ea typeface="Arial"/>
                <a:cs typeface="Arial"/>
              </a:rPr>
              <a:t>final safety violations</a:t>
            </a:r>
          </a:p>
        </p:txBody>
      </p:sp>
      <p:sp>
        <p:nvSpPr>
          <p:cNvPr id="9" name="">
            <a:extLst xmlns:a="http://schemas.openxmlformats.org/drawingml/2006/main">
              <a:ext uri="{FF2B5EF4-FFF2-40B4-BE49-F238E27FC236}">
                <a16:creationId xmlns:a16="http://schemas.microsoft.com/office/drawing/2014/main" id="{BDCB8A60-D38C-4698-8425-A8CDC7341823}"/>
              </a:ext>
            </a:extLst>
          </p:cNvPr>
          <p:cNvSpPr>
            <a:spLocks xmlns:a="http://schemas.openxmlformats.org/drawingml/2006/main" noGrp="1"/>
          </p:cNvSpPr>
          <p:nvPr/>
        </p:nvSpPr>
        <p:spPr>
          <a:xfrm xmlns:a="http://schemas.openxmlformats.org/drawingml/2006/main">
            <a:off x="609600" y="64008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900" b="0">
                <a:solidFill>
                  <a:srgbClr val="637083"/>
                </a:solidFill>
                <a:latin typeface="Arial"/>
                <a:ea typeface="Arial"/>
                <a:cs typeface="Arial"/>
              </a:defRPr>
            </a:pPr>
            <a:r>
              <a:rPr sz="900" b="0">
                <a:solidFill>
                  <a:srgbClr val="637083"/>
                </a:solidFill>
                <a:latin typeface="Arial"/>
                <a:ea typeface="Arial"/>
                <a:cs typeface="Arial"/>
              </a:rPr>
              <a:t>Smart Traffic-Light Simulation | 11</a:t>
            </a:r>
          </a:p>
        </p:txBody>
      </p:sp>
    </p:spTree>
    <p:extLst>
      <p:ext uri="{BB962C8B-B14F-4D97-AF65-F5344CB8AC3E}">
        <p14:creationId xmlns:p14="http://schemas.microsoft.com/office/powerpoint/2010/main" val="9030090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2026-09-10T14:38:30.5870000Z</dcterms:created>
  <dcterms:modified xsi:type="dcterms:W3CDTF">2026-09-10T14:38:30.5870000Z</dcterms:modified>
</coreProperties>
</file>