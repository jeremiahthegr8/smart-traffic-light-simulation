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93ee0f17b74043" /><Relationship Type="http://schemas.openxmlformats.org/officeDocument/2006/relationships/extended-properties" Target="/docProps/app.xml" Id="R1a28801977244b6d" /><Relationship Type="http://schemas.openxmlformats.org/officeDocument/2006/relationships/officeDocument" Target="/ppt/presentation.xml" Id="R0d017ab7ee1943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9f3913d7a64822"/>
  </p:sldMasterIdLst>
  <p:notesMasterIdLst>
    <p:notesMasterId xmlns:r="http://schemas.openxmlformats.org/officeDocument/2006/relationships" r:id="R7ad43846bf254ff7"/>
  </p:notesMasterIdLst>
  <p:sldIdLst>
    <p:sldId xmlns:r="http://schemas.openxmlformats.org/officeDocument/2006/relationships" id="256" r:id="Ra1ef596ef6bb463a"/>
    <p:sldId xmlns:r="http://schemas.openxmlformats.org/officeDocument/2006/relationships" id="257" r:id="R7e41de408baf4f29"/>
    <p:sldId xmlns:r="http://schemas.openxmlformats.org/officeDocument/2006/relationships" id="258" r:id="R9263216c38794894"/>
    <p:sldId xmlns:r="http://schemas.openxmlformats.org/officeDocument/2006/relationships" id="259" r:id="R54bf1102e1cc4eb8"/>
    <p:sldId xmlns:r="http://schemas.openxmlformats.org/officeDocument/2006/relationships" id="260" r:id="R18758cdafb7d449a"/>
    <p:sldId xmlns:r="http://schemas.openxmlformats.org/officeDocument/2006/relationships" id="261" r:id="R109e8824d423456b"/>
    <p:sldId xmlns:r="http://schemas.openxmlformats.org/officeDocument/2006/relationships" id="262" r:id="R851a1753407b47b9"/>
    <p:sldId xmlns:r="http://schemas.openxmlformats.org/officeDocument/2006/relationships" id="263" r:id="R59dbbbe02eb440db"/>
    <p:sldId xmlns:r="http://schemas.openxmlformats.org/officeDocument/2006/relationships" id="264" r:id="Rbd67df2e400f407d"/>
    <p:sldId xmlns:r="http://schemas.openxmlformats.org/officeDocument/2006/relationships" id="265" r:id="R85a6a120cbe84ff8"/>
    <p:sldId xmlns:r="http://schemas.openxmlformats.org/officeDocument/2006/relationships" id="266" r:id="Rbb6ab010d63948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432d815f7a4b97" /><Relationship Type="http://schemas.openxmlformats.org/officeDocument/2006/relationships/slideMaster" Target="/ppt/slideMasters/slideMaster1.xml" Id="R969f3913d7a64822" /><Relationship Type="http://schemas.openxmlformats.org/officeDocument/2006/relationships/notesMaster" Target="/ppt/notesMasters/notesMaster1.xml" Id="R7ad43846bf254ff7" /><Relationship Type="http://schemas.openxmlformats.org/officeDocument/2006/relationships/presProps" Target="/ppt/presProps.xml" Id="R314c81b8ee73420a" /><Relationship Type="http://schemas.openxmlformats.org/officeDocument/2006/relationships/tableStyles" Target="/ppt/tableStyles.xml" Id="R74f4dee7dc5947cf" /><Relationship Type="http://schemas.openxmlformats.org/officeDocument/2006/relationships/slide" Target="/ppt/slides/slide1.xml" Id="Ra1ef596ef6bb463a" /><Relationship Type="http://schemas.openxmlformats.org/officeDocument/2006/relationships/slide" Target="/ppt/slides/slide2.xml" Id="R7e41de408baf4f29" /><Relationship Type="http://schemas.openxmlformats.org/officeDocument/2006/relationships/slide" Target="/ppt/slides/slide3.xml" Id="R9263216c38794894" /><Relationship Type="http://schemas.openxmlformats.org/officeDocument/2006/relationships/slide" Target="/ppt/slides/slide4.xml" Id="R54bf1102e1cc4eb8" /><Relationship Type="http://schemas.openxmlformats.org/officeDocument/2006/relationships/slide" Target="/ppt/slides/slide5.xml" Id="R18758cdafb7d449a" /><Relationship Type="http://schemas.openxmlformats.org/officeDocument/2006/relationships/slide" Target="/ppt/slides/slide6.xml" Id="R109e8824d423456b" /><Relationship Type="http://schemas.openxmlformats.org/officeDocument/2006/relationships/slide" Target="/ppt/slides/slide7.xml" Id="R851a1753407b47b9" /><Relationship Type="http://schemas.openxmlformats.org/officeDocument/2006/relationships/slide" Target="/ppt/slides/slide8.xml" Id="R59dbbbe02eb440db" /><Relationship Type="http://schemas.openxmlformats.org/officeDocument/2006/relationships/slide" Target="/ppt/slides/slide9.xml" Id="Rbd67df2e400f407d" /><Relationship Type="http://schemas.openxmlformats.org/officeDocument/2006/relationships/slide" Target="/ppt/slides/slide10.xml" Id="R85a6a120cbe84ff8" /><Relationship Type="http://schemas.openxmlformats.org/officeDocument/2006/relationships/slide" Target="/ppt/slides/slide11.xml" Id="Rbb6ab010d63948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a0eddd12864f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4dd120e7bf4056" /><Relationship Type="http://schemas.openxmlformats.org/officeDocument/2006/relationships/notesMaster" Target="/ppt/notesMasters/notesMaster1.xml" Id="R10736b45c38c4b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21cb93a4ae41fd" /><Relationship Type="http://schemas.openxmlformats.org/officeDocument/2006/relationships/notesMaster" Target="/ppt/notesMasters/notesMaster1.xml" Id="R1218815886fb42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adb9f0ed6d4a91" /><Relationship Type="http://schemas.openxmlformats.org/officeDocument/2006/relationships/notesMaster" Target="/ppt/notesMasters/notesMaster1.xml" Id="R5ca43e03ff95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1d4a7c336c428a" /><Relationship Type="http://schemas.openxmlformats.org/officeDocument/2006/relationships/notesMaster" Target="/ppt/notesMasters/notesMaster1.xml" Id="R66581bc78fff4b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a850bc4d1e4983" /><Relationship Type="http://schemas.openxmlformats.org/officeDocument/2006/relationships/notesMaster" Target="/ppt/notesMasters/notesMaster1.xml" Id="Rbb1716339b854b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ef3f99f21e4edc" /><Relationship Type="http://schemas.openxmlformats.org/officeDocument/2006/relationships/notesMaster" Target="/ppt/notesMasters/notesMaster1.xml" Id="Rd855d8e297e044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d495b5a6f64965" /><Relationship Type="http://schemas.openxmlformats.org/officeDocument/2006/relationships/notesMaster" Target="/ppt/notesMasters/notesMaster1.xml" Id="Rc1dcea345ac14b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7328b6a83f401c" /><Relationship Type="http://schemas.openxmlformats.org/officeDocument/2006/relationships/notesMaster" Target="/ppt/notesMasters/notesMaster1.xml" Id="R93d48f6f762649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f33540885c436c" /><Relationship Type="http://schemas.openxmlformats.org/officeDocument/2006/relationships/notesMaster" Target="/ppt/notesMasters/notesMaster1.xml" Id="R6120aa9a731a46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5f640acc554074" /><Relationship Type="http://schemas.openxmlformats.org/officeDocument/2006/relationships/notesMaster" Target="/ppt/notesMasters/notesMaster1.xml" Id="R6b20da11fc0c4d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611c9f4c5f42c6" /><Relationship Type="http://schemas.openxmlformats.org/officeDocument/2006/relationships/notesMaster" Target="/ppt/notesMasters/notesMaster1.xml" Id="R999e436afc69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the project now focuses on full software simulation rather than physical Raspberry Pi hardware. State the core claim: adaptive timing reduces waiting time or queue length while maintaining zero conflicting-green violations.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decision to move away from hardware: simulation gives repeatable evidence and keeps the project focused on controller logic and safety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the examiner's likely concern: similar systems exist, but this submission is an engineering implementation with requirements, architecture, tests, evaluation, and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vehicles are detected by a virtual detector in the simulation. Rain, darkness, glare, and dirt are discussed as causes of bad readings, represented by detector-fault profiles rather than physical perception.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 architecture gives a clean explanation for the simulation-only pivot. The algorithm does not depend on GPIO or a physical sensor.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adaptive algorithm never directly commands arbitrary lamp colours. It only influences the green phase duration.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fixed and adaptive benchmark pairs use the same seed, so the arrival trace is identical for the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if the live dashboard is slow during the demo. The images are saved Playwright screenshots from the implemented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results/dissertation/benchmark_summary.csv and results/dissertation/results_summary.md. The benchmark used 300-second runs, 0.5-second steps, and seeds 1 to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results/dissertation/failure_modes.csv and results/dissertation/results_summary.md. Explain that faults alter demand readings only; they do not set signal colours.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limitation clearly: this is a controlled simulation, not a public-road controller. Point to future work such as pedestrian phases, richer detector noise, SUMO validation, and optional hardware adapters.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2175a730345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7ef81c3bf24ef1" /><Relationship Type="http://schemas.openxmlformats.org/officeDocument/2006/relationships/slideLayout" Target="/ppt/slideLayouts/slideLayout1.xml" Id="R57a30ddd3c6a42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a30ddd3c6a42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3aace17c2498e" /><Relationship Type="http://schemas.openxmlformats.org/officeDocument/2006/relationships/image" Target="/ppt/media/image.png" Id="R62a23fb7f0d24fac" /><Relationship Type="http://schemas.openxmlformats.org/officeDocument/2006/relationships/notesSlide" Target="/ppt/notesSlides/notesSlide1.xml" Id="Red31b11b6d4048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6f7292b584c65" /><Relationship Type="http://schemas.openxmlformats.org/officeDocument/2006/relationships/notesSlide" Target="/ppt/notesSlides/notesSlide2.xml" Id="Rbaba908f25144f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df65b08334d2e" /><Relationship Type="http://schemas.openxmlformats.org/officeDocument/2006/relationships/notesSlide" Target="/ppt/notesSlides/notesSlide3.xml" Id="Rfd715385912049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6084ce20f4112" /><Relationship Type="http://schemas.openxmlformats.org/officeDocument/2006/relationships/notesSlide" Target="/ppt/notesSlides/notesSlide4.xml" Id="R52d669892ca74a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cfbea58224081" /><Relationship Type="http://schemas.openxmlformats.org/officeDocument/2006/relationships/notesSlide" Target="/ppt/notesSlides/notesSlide5.xml" Id="R76fc5ff73cb541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6ffda2dca494e" /><Relationship Type="http://schemas.openxmlformats.org/officeDocument/2006/relationships/notesSlide" Target="/ppt/notesSlides/notesSlide6.xml" Id="Rd2ae995f9ec945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2c1df929b455c" /><Relationship Type="http://schemas.openxmlformats.org/officeDocument/2006/relationships/notesSlide" Target="/ppt/notesSlides/notesSlide7.xml" Id="R483cc52abd124e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85d6b3c774e3d" /><Relationship Type="http://schemas.openxmlformats.org/officeDocument/2006/relationships/image" Target="/ppt/media/image2.png" Id="Ra1d9207ba32d44b8" /><Relationship Type="http://schemas.openxmlformats.org/officeDocument/2006/relationships/image" Target="/ppt/media/image3.png" Id="Rf79c40ea7e684bb5" /><Relationship Type="http://schemas.openxmlformats.org/officeDocument/2006/relationships/notesSlide" Target="/ppt/notesSlides/notesSlide8.xml" Id="R1bc6a39831d64d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0208c7eba4f31" /><Relationship Type="http://schemas.openxmlformats.org/officeDocument/2006/relationships/chart" Target="/ppt/slides/charts/chart1.xml" Id="R20569b4c282c4115" /><Relationship Type="http://schemas.openxmlformats.org/officeDocument/2006/relationships/notesSlide" Target="/ppt/notesSlides/notesSlide9.xml" Id="R0107a7135eb540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ea0bc20b34d65" /><Relationship Type="http://schemas.openxmlformats.org/officeDocument/2006/relationships/notesSlide" Target="/ppt/notesSlides/notesSlide10.xml" Id="R507a44c3fe8240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f9629c1a0423a" /><Relationship Type="http://schemas.openxmlformats.org/officeDocument/2006/relationships/notesSlide" Target="/ppt/notesSlides/notesSlide11.xml" Id="R03f17e0e5c7843b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Fixed</c:v>
          </c:tx>
          <c:spPr>
            <a:solidFill xmlns:a="http://schemas.openxmlformats.org/drawingml/2006/main">
              <a:srgbClr val="637083"/>
            </a:solidFill>
          </c:spPr>
          <c:cat>
            <c:strRef>
              <c:f>'Chart Data'!$A$2:$A$6</c:f>
              <c:strCache>
                <c:ptCount val="5"/>
                <c:pt idx="0">
                  <c:v>Balanced</c:v>
                </c:pt>
                <c:pt idx="1">
                  <c:v>NS-heavy</c:v>
                </c:pt>
                <c:pt idx="2">
                  <c:v>EW-heavy</c:v>
                </c:pt>
                <c:pt idx="3">
                  <c:v>NS-burst</c:v>
                </c:pt>
                <c:pt idx="4">
                  <c:v>Alt peak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265.27</c:v>
                </c:pt>
                <c:pt idx="1">
                  <c:v>281.27</c:v>
                </c:pt>
                <c:pt idx="2">
                  <c:v>290.81</c:v>
                </c:pt>
                <c:pt idx="3">
                  <c:v>287.02</c:v>
                </c:pt>
                <c:pt idx="4">
                  <c:v>301.63</c:v>
                </c:pt>
              </c:numCache>
            </c:numRef>
          </c:val>
        </c:ser>
        <c:ser>
          <c:idx val="1"/>
          <c:order val="1"/>
          <c:tx>
            <c:v>Adaptive</c:v>
          </c:tx>
          <c:spPr>
            <a:solidFill xmlns:a="http://schemas.openxmlformats.org/drawingml/2006/main">
              <a:srgbClr val="1F6FEB"/>
            </a:solidFill>
          </c:spPr>
          <c:cat>
            <c:strRef>
              <c:f>'Chart Data'!$C$2:$C$6</c:f>
              <c:strCache>
                <c:ptCount val="5"/>
                <c:pt idx="0">
                  <c:v>Balanced</c:v>
                </c:pt>
                <c:pt idx="1">
                  <c:v>NS-heavy</c:v>
                </c:pt>
                <c:pt idx="2">
                  <c:v>EW-heavy</c:v>
                </c:pt>
                <c:pt idx="3">
                  <c:v>NS-burst</c:v>
                </c:pt>
                <c:pt idx="4">
                  <c:v>Alt peak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251.5</c:v>
                </c:pt>
                <c:pt idx="1">
                  <c:v>263.76</c:v>
                </c:pt>
                <c:pt idx="2">
                  <c:v>271.35</c:v>
                </c:pt>
                <c:pt idx="3">
                  <c:v>271.31</c:v>
                </c:pt>
                <c:pt idx="4">
                  <c:v>279.81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2A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7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37083"/>
                    </a:solidFill>
                    <a:latin typeface="Arial"/>
                    <a:ea typeface="Arial"/>
                    <a:cs typeface="Arial"/>
                  </a:rPr>
                  <a:t>Mean wait, 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3708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7202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B167C-EE14-4EBD-A4AD-F8A054E3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Design and Evaluation of a Simulation-Based Adaptive Smart Traffic-Light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D9CD9-68C5-4E2C-8CB8-DA6A8BE1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Final-year project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201EE-C283-4FE1-9BA3-E2AEBE2C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6F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6FEB"/>
                </a:solidFill>
                <a:latin typeface="Arial"/>
                <a:ea typeface="Arial"/>
                <a:cs typeface="Arial"/>
              </a:rPr>
              <a:t>Software simulation | dashboard | repeatable benchmarks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23fb7f0d24fac"/>
          <a:srcRect xmlns:a="http://schemas.openxmlformats.org/drawingml/2006/main" l="27689" t="0" r="276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3875" y="819150"/>
            <a:ext cx="3143250" cy="4953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A8FA6-A453-402D-8C8E-443D795F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1</a:t>
            </a:r>
          </a:p>
        </p:txBody>
      </p:sp>
    </p:spTree>
    <p:extLst>
      <p:ext uri="{BB962C8B-B14F-4D97-AF65-F5344CB8AC3E}">
        <p14:creationId xmlns:p14="http://schemas.microsoft.com/office/powerpoint/2010/main" val="186564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4F739-B8D1-4642-9275-BEB5DAB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Project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15588-1312-4D29-94CB-68E7C06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Fixed-time traffic lights cannot react to changing demand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93100-8E67-425A-9230-44D5557C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A8000-5AEC-474C-BD69-81186B36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A fixed cycle may serve an empty approach while vehicles wait elsewhere.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Adaptive timing can allocate longer green time to the busier movement.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Any timing improvement must preserve amber and all-red clearance.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project evaluates the algorithm with repeatable simulation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4A8E8-508B-49B8-B780-2479A535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6F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F1DFD-A432-4AE5-B5DB-2ED5C4E6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benchmark scenarios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831A1-C295-4B74-8ED8-54582109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1D6DF-1E51-45BB-ABE3-75308D42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random seeds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01063-C516-49D1-B390-1D3ED977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3E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3E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73D90-7311-4335-AB7C-93DA1805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hardware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F5D1-FE84-48A0-BDD6-39A321DE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2</a:t>
            </a:r>
          </a:p>
        </p:txBody>
      </p:sp>
    </p:spTree>
    <p:extLst>
      <p:ext uri="{BB962C8B-B14F-4D97-AF65-F5344CB8AC3E}">
        <p14:creationId xmlns:p14="http://schemas.microsoft.com/office/powerpoint/2010/main" val="1984022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A4B82-DCDF-4170-834A-E690E467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Engineering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020BB-7475-4914-9928-CBD26110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The value is the implemented and tested control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9E934-847B-4600-8A52-D6BC738D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5936D-F139-4197-BFBD-597B924D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239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This project does not claim adaptive traffic lights are new.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It implements both fixed-time and adaptive controllers for fair comparison.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It uses repeatable scenarios and seeds instead of one-off demonstration runs.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It separates true queue values from detector values seen by the controller.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It produces tests, CSV results, charts, screenshots, and a presentation deck.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9F670-139C-49CA-966A-BB9AD665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6F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90BEA-02ED-41EA-B43C-E1088F5F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pytest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5AB9C-1394-4810-B62D-E824C869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4CD75-7905-4A28-B997-6DA326AB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benchmark seeds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5011A-5B96-49F7-85AC-6F41D880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C0641-3C43-4C09-9B9C-1AB17507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9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conflict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97AA4-ACB4-4947-A60E-1D2CC555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3</a:t>
            </a:r>
          </a:p>
        </p:txBody>
      </p:sp>
    </p:spTree>
    <p:extLst>
      <p:ext uri="{BB962C8B-B14F-4D97-AF65-F5344CB8AC3E}">
        <p14:creationId xmlns:p14="http://schemas.microsoft.com/office/powerpoint/2010/main" val="503184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865CA-AFC5-4617-A3EC-09CE0F02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Simulation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87315-10CF-448E-9BB1-44AAC7EE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Virtual detectors replace physical sensing in the approved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EBFBC-5B7F-4045-9597-E07B57EA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19150" y="1504950"/>
          <a:ext xmlns:a="http://schemas.openxmlformats.org/drawingml/2006/main" cx="93345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476750"/>
                <a:gridCol w="4857750"/>
              </a:tblGrid>
              <a:tr h="5170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Included or abstracted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Outside current physical scope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</a:tr>
              <a:tr h="5170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Virtual detector demand from simulated queues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Camera, ultrasonic, loop, or GPIO hardware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Stuck-high and stuck-low detector faults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Real sensor calibration and electronics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Rain, darkness, glare, and dirt as detector-error causes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Image quality or night-vision modelling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Unequal, burst, and changing traffic demand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Turning lanes, lane changes, and blocked roads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Safe phase machine and all-red clearance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Certified public-road operation</a:t>
                      </a:r>
                    </a:p>
                  </a:txBody>
                  <a:tcPr marL="91440" marR="91440" marT="45720" marB="45720"/>
                </a:tc>
              </a:tr>
              <a:tr h="5170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Dashboard, logs, CSVs, charts, and 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Physical roadside deployment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0B9B5-CDCE-428C-94BE-8D29604D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4</a:t>
            </a:r>
          </a:p>
        </p:txBody>
      </p:sp>
    </p:spTree>
    <p:extLst>
      <p:ext uri="{BB962C8B-B14F-4D97-AF65-F5344CB8AC3E}">
        <p14:creationId xmlns:p14="http://schemas.microsoft.com/office/powerpoint/2010/main" val="1735130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E1DC0-B6AB-4C03-AB78-638F347D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Implementation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E787B-9068-4349-A626-99D46EAA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The controller stays separate from simulation, storage, and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F19A6-00B1-49CA-A2FC-F95B48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363200" cy="2971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4762500"/>
                <a:gridCol w="3790950"/>
              </a:tblGrid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files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</a:tr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Domain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Signal phases, timing, safety checks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src/trafficlight/domain/</a:t>
                      </a:r>
                    </a:p>
                  </a:txBody>
                  <a:tcPr marL="91440" marR="91440" marT="45720" marB="45720"/>
                </a:tc>
              </a:tr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Simulation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Queues, scenarios, faults, benchmarks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src/trafficlight/simulation/</a:t>
                      </a:r>
                    </a:p>
                  </a:txBody>
                  <a:tcPr marL="91440" marR="91440" marT="45720" marB="45720"/>
                </a:tc>
              </a:tr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SQLite run, event, detector, metric logging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src/trafficlight/storage/</a:t>
                      </a:r>
                    </a:p>
                  </a:txBody>
                  <a:tcPr marL="91440" marR="91440" marT="45720" marB="45720"/>
                </a:tc>
              </a:tr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CLI, FastAPI, WebSocket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src/trafficlight/main.py, api/, dashboard/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EA434-DDFA-4265-A415-5E7EA58B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6FE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6FEB"/>
                </a:solidFill>
                <a:latin typeface="Arial"/>
                <a:ea typeface="Arial"/>
                <a:cs typeface="Arial"/>
              </a:rPr>
              <a:t>Same controller code is used by the CLI, API, dashboard stream, and benchmark scripts.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87C45-054D-4268-9433-4B0C8FF8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5</a:t>
            </a:r>
          </a:p>
        </p:txBody>
      </p:sp>
    </p:spTree>
    <p:extLst>
      <p:ext uri="{BB962C8B-B14F-4D97-AF65-F5344CB8AC3E}">
        <p14:creationId xmlns:p14="http://schemas.microsoft.com/office/powerpoint/2010/main" val="1355894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13D7D-E6AE-4728-854E-DD840275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Controller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15A9D-A39D-41FF-82BC-DB66985B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Adaptive timing changes green duration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155A-FB4F-48BC-8370-E217343D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1F9D5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4D167-4219-4DC8-8E32-DC8BFED0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Safe phase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DD92F-106E-4011-991A-DCFFD579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8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852"/>
                </a:solidFill>
                <a:latin typeface="Arial"/>
                <a:ea typeface="Arial"/>
                <a:cs typeface="Arial"/>
              </a:rPr>
              <a:t>all-red, NS green, NS amber, all-red, EW green, EW amber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4DD97-491C-45D9-8905-53907568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685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Fixed and adaptive controllers share the same phase machine.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Every signal state passes through the conflicting-green safety check.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Minimum green protects active traffic from instant switching.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Maximum green prevents one movement from holding green indefinitely.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AF35A-A51E-4E81-A7E6-D828A7D6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87A3E-12EB-4BEC-8DF1-E58D4EC4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conflicting-green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0ABFB-FB2C-487A-B58B-A145C1D8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6</a:t>
            </a:r>
          </a:p>
        </p:txBody>
      </p:sp>
    </p:spTree>
    <p:extLst>
      <p:ext uri="{BB962C8B-B14F-4D97-AF65-F5344CB8AC3E}">
        <p14:creationId xmlns:p14="http://schemas.microsoft.com/office/powerpoint/2010/main" val="1814184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A9A8-3A1D-4AA8-B592-D070164B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Simulation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BBB72-B798-4ED2-8BF4-61CEBE97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Each run advances the intersection in fixed time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B2856-9933-47DE-AEC4-A3C928A0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53D9A-B872-4138-BA79-C42546B8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Generate arrivals from the selected traffic scenario.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Create true queue demand for North, East, South, and West.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Apply detector faults when a fault profile is selected.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Advance the controller and check for unsafe signal states.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Discharge vehicles on green approaches and record metrics.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CB9BE-32A3-4786-B589-9CD1FE45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38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Experiment settings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715250" y="2133600"/>
          <a:ext xmlns:a="http://schemas.openxmlformats.org/drawingml/2006/main" cx="30480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1524000"/>
              </a:tblGrid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300 s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0.5 s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Seeds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 to 10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Scenarios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52C3B-71B0-480A-AC6C-5680A06D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7</a:t>
            </a:r>
          </a:p>
        </p:txBody>
      </p:sp>
    </p:spTree>
    <p:extLst>
      <p:ext uri="{BB962C8B-B14F-4D97-AF65-F5344CB8AC3E}">
        <p14:creationId xmlns:p14="http://schemas.microsoft.com/office/powerpoint/2010/main" val="906707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F0DDB-EC14-45BC-AC96-47E1C852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Dashboard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09DC5-0305-4189-920E-325A751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Live simulation and detector faults are visible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839F2-F999-4D70-9371-9DB994CD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9207ba32d44b8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85900"/>
            <a:ext cx="4953000" cy="3714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c40ea7e684bb5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48590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F4945-96B6-49B2-9375-AA9DD2D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Live queues and moving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3E5EE-C716-4302-A38A-32C5BFE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911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Detector stuck high while real queue is lower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E1C8E-A56C-4C08-95B0-FBA2CED2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8</a:t>
            </a:r>
          </a:p>
        </p:txBody>
      </p:sp>
    </p:spTree>
    <p:extLst>
      <p:ext uri="{BB962C8B-B14F-4D97-AF65-F5344CB8AC3E}">
        <p14:creationId xmlns:p14="http://schemas.microsoft.com/office/powerpoint/2010/main" val="18746538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1A7AD-AAF6-413F-969B-028E78ED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88A87-91B5-4783-9542-74044D81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Adaptive control reduced mean wait in all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2A817-3111-4F07-877F-902B9E65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1F9D55"/>
            </a:solidFill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42950" y="1619250"/>
          <a:ext xmlns:a="http://schemas.openxmlformats.org/drawingml/2006/main" cx="8191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569b4c282c411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237E0-9D2B-4A23-944A-E514C535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83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5.18%-7.24%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C3425-6DB0-45FE-9B76-A33BC55E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mean-wait improvement range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A4968-C9E1-44E7-8A61-05D790AD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D4C65-1BFE-4EC5-A10E-F9ABD968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291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safety violations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881FA-2E97-4B60-AAA7-879CCDA9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9</a:t>
            </a:r>
          </a:p>
        </p:txBody>
      </p:sp>
    </p:spTree>
    <p:extLst>
      <p:ext uri="{BB962C8B-B14F-4D97-AF65-F5344CB8AC3E}">
        <p14:creationId xmlns:p14="http://schemas.microsoft.com/office/powerpoint/2010/main" val="15655170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CB495-94CF-47BE-97EF-457D05D2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Fault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E4E07-B310-4395-B64E-7902DC31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Bad detector input affects performance, not phase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4C3E1-60F9-4634-AC77-36604879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981075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1238250"/>
                <a:gridCol w="1714500"/>
                <a:gridCol w="1809750"/>
                <a:gridCol w="17145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Fault profile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wait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Safety violations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225.80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263.76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ns-stuck-high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228.40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258.04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ew-stuck-low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253.49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all-stuck-low-midrun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196.60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314.48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23681-FC02-41D5-A0D7-22056A1D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worst fault profile reduced completed vehicles and increased waiting time, but no test produced conflicting green signals.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6F5DB-3773-49E4-B6B6-823F6C9F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10</a:t>
            </a:r>
          </a:p>
        </p:txBody>
      </p:sp>
    </p:spTree>
    <p:extLst>
      <p:ext uri="{BB962C8B-B14F-4D97-AF65-F5344CB8AC3E}">
        <p14:creationId xmlns:p14="http://schemas.microsoft.com/office/powerpoint/2010/main" val="14496288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0A224-EBB0-4B56-B9FD-2DFF5BE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CD49C-79DE-49BA-90B3-8F1DB99C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The simulation supports the adaptive-control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0F34A-764D-47AE-8DBE-AD2080B3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1F9D5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4C810-B9B0-4A48-A444-BDBFD38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7429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project runs fully in software with no physical hardware dependency.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Adaptive timing reduced mean wait in all five benchmark scenarios.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adaptive controller completed more vehicles than the fixed-time baseline.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Benchmark and detector-fault experiments recorded zero conflicting-green violations.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main limitation is the simplified traffic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16A90-BE3E-46BC-B909-1C025E3A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6F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FE845-BCA9-42B3-ACA1-15D75494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tests passing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17076-A968-473F-8BB6-C6A5C6EF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094A3-AFE0-4B07-A44D-CC2F72E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final safety violations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6FB3B-2F44-498A-AE84-165430C9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11</a:t>
            </a:r>
          </a:p>
        </p:txBody>
      </p:sp>
    </p:spTree>
    <p:extLst>
      <p:ext uri="{BB962C8B-B14F-4D97-AF65-F5344CB8AC3E}">
        <p14:creationId xmlns:p14="http://schemas.microsoft.com/office/powerpoint/2010/main" val="1901171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2026-09-10T00:32:54.5740000Z</dcterms:created>
  <dcterms:modified xsi:type="dcterms:W3CDTF">2026-09-10T00:32:54.5740000Z</dcterms:modified>
</coreProperties>
</file>